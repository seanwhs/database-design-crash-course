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6348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jpg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jpg"/><Relationship Id="rId5" Type="http://schemas.openxmlformats.org/officeDocument/2006/relationships/image" Target="../media/image32.jpg"/><Relationship Id="rId4" Type="http://schemas.openxmlformats.org/officeDocument/2006/relationships/image" Target="../media/image31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g"/><Relationship Id="rId3" Type="http://schemas.openxmlformats.org/officeDocument/2006/relationships/image" Target="../media/image43.jpeg"/><Relationship Id="rId7" Type="http://schemas.openxmlformats.org/officeDocument/2006/relationships/image" Target="../media/image47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jpg"/><Relationship Id="rId5" Type="http://schemas.openxmlformats.org/officeDocument/2006/relationships/image" Target="../media/image45.jpg"/><Relationship Id="rId4" Type="http://schemas.openxmlformats.org/officeDocument/2006/relationships/image" Target="../media/image44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09-d2nfap98bjvh7rlj0ie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5400000">
            <a:off x="3017799" y="-3017800"/>
            <a:ext cx="6156401" cy="1219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609578"/>
            <a:ext cx="12192000" cy="2357278"/>
          </a:xfrm>
          <a:prstGeom prst="rect">
            <a:avLst/>
          </a:prstGeom>
          <a:solidFill>
            <a:srgbClr val="161616"/>
          </a:solidFill>
          <a:ln w="12700">
            <a:solidFill>
              <a:srgbClr val="09111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4609578"/>
            <a:ext cx="12192000" cy="235727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30466" y="5184885"/>
            <a:ext cx="6077403" cy="1323439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Day 2: Advanced Database Design &amp; Optimization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959231" y="5662019"/>
            <a:ext cx="2254685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Sean Wong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83268" y="6038379"/>
            <a:ext cx="4208732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2025/08/04</a:t>
            </a:r>
            <a:endParaRPr lang="en-US" sz="1600" dirty="0"/>
          </a:p>
        </p:txBody>
      </p:sp>
      <p:pic>
        <p:nvPicPr>
          <p:cNvPr id="8" name="Image 1" descr="https://kimi-img.moonshot.cn/pub/slides/slides_tmpl/image/25-08-27-20:09:02-d2nfanh8bjvh7rlj0h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8741" y="5110209"/>
            <a:ext cx="1323439" cy="1323439"/>
          </a:xfrm>
          <a:prstGeom prst="rect">
            <a:avLst/>
          </a:prstGeom>
        </p:spPr>
      </p:pic>
      <p:pic>
        <p:nvPicPr>
          <p:cNvPr id="9" name="Image 2" descr="https://kimi-img.moonshot.cn/pub/slides/slides_tmpl/image/25-08-27-20:09:02-d2nfanh8bjvh7rlj0hu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387" y="5136798"/>
            <a:ext cx="463139" cy="463139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8-27-20:09:02-d2nfanh8bjvh7rlj0hu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70" y="3069032"/>
            <a:ext cx="2420888" cy="2420888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8-27-20:09:02-d2nfanh8bjvh7rlj0hv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0216" y="5231637"/>
            <a:ext cx="635000" cy="3683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03-d2nfanp8bjvh7rlj0i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969" y="22930"/>
            <a:ext cx="7162800" cy="65532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101764" y="0"/>
            <a:ext cx="2916401" cy="6858000"/>
          </a:xfrm>
          <a:custGeom>
            <a:avLst/>
            <a:gdLst/>
            <a:ahLst/>
            <a:cxnLst/>
            <a:rect l="l" t="t" r="r" b="b"/>
            <a:pathLst>
              <a:path w="2916401" h="6858000">
                <a:moveTo>
                  <a:pt x="0" y="0"/>
                </a:moveTo>
                <a:lnTo>
                  <a:pt x="1310838" y="0"/>
                </a:lnTo>
                <a:lnTo>
                  <a:pt x="1453357" y="123454"/>
                </a:lnTo>
                <a:cubicBezTo>
                  <a:pt x="2352136" y="940343"/>
                  <a:pt x="2916401" y="2118776"/>
                  <a:pt x="2916401" y="3429000"/>
                </a:cubicBezTo>
                <a:cubicBezTo>
                  <a:pt x="2916401" y="4739224"/>
                  <a:pt x="2352136" y="5917657"/>
                  <a:pt x="1453357" y="6734546"/>
                </a:cubicBezTo>
                <a:lnTo>
                  <a:pt x="1310838" y="6858000"/>
                </a:lnTo>
                <a:lnTo>
                  <a:pt x="220806" y="6858000"/>
                </a:lnTo>
                <a:lnTo>
                  <a:pt x="224168" y="6856279"/>
                </a:lnTo>
                <a:cubicBezTo>
                  <a:pt x="1419763" y="6206792"/>
                  <a:pt x="2231395" y="4940069"/>
                  <a:pt x="2231395" y="3483779"/>
                </a:cubicBezTo>
                <a:cubicBezTo>
                  <a:pt x="2231395" y="1961294"/>
                  <a:pt x="1344301" y="646001"/>
                  <a:pt x="58792" y="26579"/>
                </a:cubicBezTo>
                <a:close/>
              </a:path>
            </a:pathLst>
          </a:custGeom>
          <a:solidFill>
            <a:srgbClr val="F3F3F7"/>
          </a:solidFill>
          <a:ln/>
        </p:spPr>
      </p:sp>
      <p:sp>
        <p:nvSpPr>
          <p:cNvPr id="4" name="Text 1"/>
          <p:cNvSpPr/>
          <p:nvPr/>
        </p:nvSpPr>
        <p:spPr>
          <a:xfrm>
            <a:off x="2101764" y="0"/>
            <a:ext cx="2916401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958283" y="4784098"/>
            <a:ext cx="231418" cy="231418"/>
          </a:xfrm>
          <a:prstGeom prst="rect">
            <a:avLst/>
          </a:prstGeom>
          <a:solidFill>
            <a:srgbClr val="D2F9E9"/>
          </a:solidFill>
          <a:ln/>
        </p:spPr>
      </p:sp>
      <p:sp>
        <p:nvSpPr>
          <p:cNvPr id="6" name="Text 3"/>
          <p:cNvSpPr/>
          <p:nvPr/>
        </p:nvSpPr>
        <p:spPr>
          <a:xfrm>
            <a:off x="958283" y="478409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58283" y="3070930"/>
            <a:ext cx="231418" cy="231418"/>
          </a:xfrm>
          <a:prstGeom prst="rect">
            <a:avLst/>
          </a:prstGeom>
          <a:solidFill>
            <a:srgbClr val="8FABDB"/>
          </a:solidFill>
          <a:ln/>
        </p:spPr>
      </p:sp>
      <p:sp>
        <p:nvSpPr>
          <p:cNvPr id="8" name="Text 5"/>
          <p:cNvSpPr/>
          <p:nvPr/>
        </p:nvSpPr>
        <p:spPr>
          <a:xfrm>
            <a:off x="958283" y="3070930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58283" y="3508088"/>
            <a:ext cx="231418" cy="231418"/>
          </a:xfrm>
          <a:prstGeom prst="rect">
            <a:avLst/>
          </a:prstGeom>
          <a:solidFill>
            <a:srgbClr val="B3C5E6"/>
          </a:solidFill>
          <a:ln/>
        </p:spPr>
      </p:sp>
      <p:sp>
        <p:nvSpPr>
          <p:cNvPr id="10" name="Text 7"/>
          <p:cNvSpPr/>
          <p:nvPr/>
        </p:nvSpPr>
        <p:spPr>
          <a:xfrm>
            <a:off x="958283" y="350808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58283" y="3736938"/>
            <a:ext cx="231418" cy="231418"/>
          </a:xfrm>
          <a:prstGeom prst="rect">
            <a:avLst/>
          </a:prstGeom>
          <a:solidFill>
            <a:srgbClr val="B2D0E3"/>
          </a:solidFill>
          <a:ln/>
        </p:spPr>
      </p:sp>
      <p:sp>
        <p:nvSpPr>
          <p:cNvPr id="12" name="Text 9"/>
          <p:cNvSpPr/>
          <p:nvPr/>
        </p:nvSpPr>
        <p:spPr>
          <a:xfrm>
            <a:off x="958283" y="373693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58283" y="3944784"/>
            <a:ext cx="231418" cy="231418"/>
          </a:xfrm>
          <a:prstGeom prst="rect">
            <a:avLst/>
          </a:prstGeom>
          <a:solidFill>
            <a:srgbClr val="B7DBE3"/>
          </a:solidFill>
          <a:ln/>
        </p:spPr>
      </p:sp>
      <p:sp>
        <p:nvSpPr>
          <p:cNvPr id="14" name="Text 11"/>
          <p:cNvSpPr/>
          <p:nvPr/>
        </p:nvSpPr>
        <p:spPr>
          <a:xfrm>
            <a:off x="958283" y="3944784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58283" y="4173384"/>
            <a:ext cx="231418" cy="231418"/>
          </a:xfrm>
          <a:prstGeom prst="rect">
            <a:avLst/>
          </a:prstGeom>
          <a:solidFill>
            <a:srgbClr val="BAE3E1"/>
          </a:solidFill>
          <a:ln/>
        </p:spPr>
      </p:sp>
      <p:sp>
        <p:nvSpPr>
          <p:cNvPr id="16" name="Text 13"/>
          <p:cNvSpPr/>
          <p:nvPr/>
        </p:nvSpPr>
        <p:spPr>
          <a:xfrm>
            <a:off x="958283" y="4173384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958283" y="4372618"/>
            <a:ext cx="231418" cy="231418"/>
          </a:xfrm>
          <a:prstGeom prst="rect">
            <a:avLst/>
          </a:prstGeom>
          <a:solidFill>
            <a:srgbClr val="BEEDE1"/>
          </a:solidFill>
          <a:ln/>
        </p:spPr>
      </p:sp>
      <p:sp>
        <p:nvSpPr>
          <p:cNvPr id="18" name="Text 15"/>
          <p:cNvSpPr/>
          <p:nvPr/>
        </p:nvSpPr>
        <p:spPr>
          <a:xfrm>
            <a:off x="958283" y="437261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58283" y="4589788"/>
            <a:ext cx="231418" cy="231418"/>
          </a:xfrm>
          <a:prstGeom prst="rect">
            <a:avLst/>
          </a:prstGeom>
          <a:solidFill>
            <a:srgbClr val="C9F7E4"/>
          </a:solidFill>
          <a:ln/>
        </p:spPr>
      </p:sp>
      <p:sp>
        <p:nvSpPr>
          <p:cNvPr id="20" name="Text 17"/>
          <p:cNvSpPr/>
          <p:nvPr/>
        </p:nvSpPr>
        <p:spPr>
          <a:xfrm>
            <a:off x="958283" y="458978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58283" y="5001268"/>
            <a:ext cx="231418" cy="231418"/>
          </a:xfrm>
          <a:prstGeom prst="rect">
            <a:avLst/>
          </a:prstGeom>
          <a:solidFill>
            <a:srgbClr val="DEFAEF"/>
          </a:solidFill>
          <a:ln/>
        </p:spPr>
      </p:sp>
      <p:sp>
        <p:nvSpPr>
          <p:cNvPr id="22" name="Text 19"/>
          <p:cNvSpPr/>
          <p:nvPr/>
        </p:nvSpPr>
        <p:spPr>
          <a:xfrm>
            <a:off x="958283" y="500126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958283" y="5195578"/>
            <a:ext cx="231418" cy="231418"/>
          </a:xfrm>
          <a:prstGeom prst="rect">
            <a:avLst/>
          </a:prstGeom>
          <a:solidFill>
            <a:srgbClr val="E2FAF1"/>
          </a:solidFill>
          <a:ln/>
        </p:spPr>
      </p:sp>
      <p:sp>
        <p:nvSpPr>
          <p:cNvPr id="24" name="Text 21"/>
          <p:cNvSpPr/>
          <p:nvPr/>
        </p:nvSpPr>
        <p:spPr>
          <a:xfrm>
            <a:off x="958283" y="519557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958283" y="5424178"/>
            <a:ext cx="231418" cy="231418"/>
          </a:xfrm>
          <a:prstGeom prst="rect">
            <a:avLst/>
          </a:prstGeom>
          <a:solidFill>
            <a:srgbClr val="EBFDF5"/>
          </a:solidFill>
          <a:ln/>
        </p:spPr>
      </p:sp>
      <p:sp>
        <p:nvSpPr>
          <p:cNvPr id="26" name="Text 23"/>
          <p:cNvSpPr/>
          <p:nvPr/>
        </p:nvSpPr>
        <p:spPr>
          <a:xfrm>
            <a:off x="958283" y="542417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958283" y="5641348"/>
            <a:ext cx="231418" cy="231418"/>
          </a:xfrm>
          <a:prstGeom prst="rect">
            <a:avLst/>
          </a:prstGeom>
          <a:solidFill>
            <a:srgbClr val="F1FEF8"/>
          </a:solidFill>
          <a:ln/>
        </p:spPr>
      </p:sp>
      <p:sp>
        <p:nvSpPr>
          <p:cNvPr id="28" name="Text 25"/>
          <p:cNvSpPr/>
          <p:nvPr/>
        </p:nvSpPr>
        <p:spPr>
          <a:xfrm>
            <a:off x="958283" y="564134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958283" y="5858518"/>
            <a:ext cx="231418" cy="231418"/>
          </a:xfrm>
          <a:prstGeom prst="rect">
            <a:avLst/>
          </a:prstGeom>
          <a:solidFill>
            <a:srgbClr val="F7FFFB"/>
          </a:solidFill>
          <a:ln/>
        </p:spPr>
      </p:sp>
      <p:sp>
        <p:nvSpPr>
          <p:cNvPr id="30" name="Text 27"/>
          <p:cNvSpPr/>
          <p:nvPr/>
        </p:nvSpPr>
        <p:spPr>
          <a:xfrm>
            <a:off x="958283" y="585851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958283" y="3299530"/>
            <a:ext cx="231418" cy="231418"/>
          </a:xfrm>
          <a:prstGeom prst="rect">
            <a:avLst/>
          </a:prstGeom>
          <a:solidFill>
            <a:srgbClr val="9DB4E0"/>
          </a:solidFill>
          <a:ln/>
        </p:spPr>
      </p:sp>
      <p:sp>
        <p:nvSpPr>
          <p:cNvPr id="32" name="Text 29"/>
          <p:cNvSpPr/>
          <p:nvPr/>
        </p:nvSpPr>
        <p:spPr>
          <a:xfrm>
            <a:off x="958283" y="3299530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3" name="Image 1" descr="https://kimi-img.moonshot.cn/pub/slides/slides_tmpl/image/25-08-27-20:09:03-d2nfanp8bjvh7rlj0i00.png"/>
          <p:cNvPicPr>
            <a:picLocks noChangeAspect="1"/>
          </p:cNvPicPr>
          <p:nvPr/>
        </p:nvPicPr>
        <p:blipFill>
          <a:blip r:embed="rId4"/>
          <a:srcRect b="95767"/>
          <a:stretch/>
        </p:blipFill>
        <p:spPr>
          <a:xfrm>
            <a:off x="263525" y="741045"/>
            <a:ext cx="3962400" cy="95696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954405" y="1016635"/>
            <a:ext cx="4064000" cy="812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5269823" y="1945191"/>
            <a:ext cx="2428729" cy="5671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Advanced Normalization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9430260" y="1908121"/>
            <a:ext cx="2428729" cy="5671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Indexing &amp; Query Optimization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7364960" y="3961415"/>
            <a:ext cx="2116889" cy="270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ACID Transactions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5266600" y="5909976"/>
            <a:ext cx="2778475" cy="270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NoSQL Landscape</a:t>
            </a:r>
            <a:endParaRPr lang="en-US" sz="1600" dirty="0"/>
          </a:p>
        </p:txBody>
      </p:sp>
      <p:sp>
        <p:nvSpPr>
          <p:cNvPr id="39" name="Text 35"/>
          <p:cNvSpPr/>
          <p:nvPr/>
        </p:nvSpPr>
        <p:spPr>
          <a:xfrm>
            <a:off x="9428762" y="5843221"/>
            <a:ext cx="2428730" cy="270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Design Best Practices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471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Advanced Normalization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16-d2nfar18bjvh7rlj0iu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24680" y="-27384"/>
            <a:ext cx="12232332" cy="6959798"/>
          </a:xfrm>
          <a:prstGeom prst="rect">
            <a:avLst/>
          </a:prstGeom>
          <a:solidFill>
            <a:srgbClr val="333F4F">
              <a:alpha val="47843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-24680" y="-27384"/>
            <a:ext cx="12232332" cy="695979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5" name="Image 1" descr="https://kimi-img.moonshot.cn/pub/slides/slides_tmpl/image/25-08-27-20:09:12-d2nfaq18bjvh7rlj0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49080"/>
            <a:ext cx="12192000" cy="1561981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 rot="10800000">
            <a:off x="1948002" y="4932990"/>
            <a:ext cx="360039" cy="29621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 rot="10800000">
            <a:off x="1948002" y="4932990"/>
            <a:ext cx="360039" cy="2962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1948003" y="4767462"/>
            <a:ext cx="360039" cy="63731"/>
          </a:xfrm>
          <a:prstGeom prst="rect">
            <a:avLst/>
          </a:prstGeom>
          <a:solidFill>
            <a:srgbClr val="C2F5E0"/>
          </a:solidFill>
          <a:ln/>
        </p:spPr>
      </p:sp>
      <p:sp>
        <p:nvSpPr>
          <p:cNvPr id="9" name="Text 5"/>
          <p:cNvSpPr/>
          <p:nvPr/>
        </p:nvSpPr>
        <p:spPr>
          <a:xfrm>
            <a:off x="1948003" y="4767462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 rot="10800000">
            <a:off x="5928324" y="3759222"/>
            <a:ext cx="360039" cy="29621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Text 7"/>
          <p:cNvSpPr/>
          <p:nvPr/>
        </p:nvSpPr>
        <p:spPr>
          <a:xfrm rot="10800000">
            <a:off x="5928324" y="3759222"/>
            <a:ext cx="360039" cy="2962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928325" y="3593694"/>
            <a:ext cx="360039" cy="63731"/>
          </a:xfrm>
          <a:prstGeom prst="rect">
            <a:avLst/>
          </a:prstGeom>
          <a:solidFill>
            <a:srgbClr val="C2F5E0"/>
          </a:solidFill>
          <a:ln/>
        </p:spPr>
      </p:sp>
      <p:sp>
        <p:nvSpPr>
          <p:cNvPr id="13" name="Text 9"/>
          <p:cNvSpPr/>
          <p:nvPr/>
        </p:nvSpPr>
        <p:spPr>
          <a:xfrm>
            <a:off x="5928325" y="3593694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 rot="10800000">
            <a:off x="9908654" y="4386616"/>
            <a:ext cx="360039" cy="29621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5" name="Text 11"/>
          <p:cNvSpPr/>
          <p:nvPr/>
        </p:nvSpPr>
        <p:spPr>
          <a:xfrm rot="10800000">
            <a:off x="9908654" y="4386616"/>
            <a:ext cx="360039" cy="2962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9908655" y="4221088"/>
            <a:ext cx="360039" cy="63731"/>
          </a:xfrm>
          <a:prstGeom prst="rect">
            <a:avLst/>
          </a:prstGeom>
          <a:solidFill>
            <a:srgbClr val="C2F5E0"/>
          </a:solidFill>
          <a:ln/>
        </p:spPr>
      </p:sp>
      <p:sp>
        <p:nvSpPr>
          <p:cNvPr id="17" name="Text 13"/>
          <p:cNvSpPr/>
          <p:nvPr/>
        </p:nvSpPr>
        <p:spPr>
          <a:xfrm>
            <a:off x="9908655" y="4221088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858496" y="5783053"/>
            <a:ext cx="8352928" cy="673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Why Normalize Further?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699956" y="5462750"/>
            <a:ext cx="792088" cy="535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6"/>
          <p:cNvSpPr/>
          <p:nvPr/>
        </p:nvSpPr>
        <p:spPr>
          <a:xfrm>
            <a:off x="5699956" y="5462750"/>
            <a:ext cx="792088" cy="5353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079776" y="1107270"/>
            <a:ext cx="0" cy="2740316"/>
          </a:xfrm>
          <a:prstGeom prst="straightConnector1">
            <a:avLst/>
          </a:prstGeom>
          <a:noFill/>
          <a:ln w="31750">
            <a:solidFill>
              <a:srgbClr val="C2F5E1">
                <a:alpha val="38824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8060105" y="963760"/>
            <a:ext cx="0" cy="2740316"/>
          </a:xfrm>
          <a:prstGeom prst="straightConnector1">
            <a:avLst/>
          </a:prstGeom>
          <a:noFill/>
          <a:ln w="31750">
            <a:solidFill>
              <a:srgbClr val="C2F5E1">
                <a:alpha val="38824"/>
              </a:srgbClr>
            </a:solidFill>
            <a:prstDash val="solid"/>
            <a:headEnd type="none"/>
            <a:tailEnd type="triangle"/>
          </a:ln>
        </p:spPr>
      </p:sp>
      <p:pic>
        <p:nvPicPr>
          <p:cNvPr id="23" name="Image 2" descr="https://kimi-img.moonshot.cn/pub/slides/slides_tmpl/image/25-08-27-20:09:11-d2nfapp8bjvh7rlj0il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4985" y="1536700"/>
            <a:ext cx="718185" cy="546100"/>
          </a:xfrm>
          <a:prstGeom prst="rect">
            <a:avLst/>
          </a:prstGeom>
        </p:spPr>
      </p:pic>
      <p:pic>
        <p:nvPicPr>
          <p:cNvPr id="24" name="Image 3" descr="https://kimi-img.moonshot.cn/pub/slides/slides_tmpl/image/25-08-27-20:09:11-d2nfapp8bjvh7rlj0im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6270" y="234950"/>
            <a:ext cx="764540" cy="581025"/>
          </a:xfrm>
          <a:prstGeom prst="rect">
            <a:avLst/>
          </a:prstGeom>
        </p:spPr>
      </p:pic>
      <p:pic>
        <p:nvPicPr>
          <p:cNvPr id="25" name="Image 4" descr="https://kimi-img.moonshot.cn/pub/slides/slides_tmpl/image/25-08-27-20:09:11-d2nfapp8bjvh7rlj0im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5335" y="982980"/>
            <a:ext cx="717550" cy="54546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54330" y="2011045"/>
            <a:ext cx="3538220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Eliminate Redundancy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577850" y="2434590"/>
            <a:ext cx="3090545" cy="1752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Normalization helps remove redundant data, ensuring that each piece of information is stored only once. This reduces storage requirements and improves data integrity.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079875" y="765810"/>
            <a:ext cx="3979545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Prevent Update Anomalies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4468495" y="1188720"/>
            <a:ext cx="3231515" cy="1752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By structuring data properly, normalization prevents update anomalies. This means that changes to the data are consistent and do not lead to errors or inconsistencies.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8275320" y="1451610"/>
            <a:ext cx="3448685" cy="7131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Enhance Query Performance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8431530" y="1874520"/>
            <a:ext cx="3185160" cy="2048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A well-normalized database can improve query performance by reducing the amount of data that needs to be scanned and processed, leading to faster response times.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536" y="1196752"/>
            <a:ext cx="2042939" cy="2426331"/>
          </a:xfrm>
          <a:prstGeom prst="rect">
            <a:avLst/>
          </a:prstGeom>
          <a:solidFill>
            <a:srgbClr val="000000">
              <a:alpha val="0"/>
            </a:srgbClr>
          </a:solidFill>
          <a:ln w="85725">
            <a:gradFill flip="none" rotWithShape="1">
              <a:gsLst>
                <a:gs pos="0">
                  <a:srgbClr val="C2F5E1"/>
                </a:gs>
                <a:gs pos="20000">
                  <a:srgbClr val="AAC0E5"/>
                </a:gs>
                <a:gs pos="100000">
                  <a:srgbClr val="9DB4E1"/>
                </a:gs>
              </a:gsLst>
              <a:lin ang="7200000" scaled="1"/>
            </a:gra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77536" y="1196752"/>
            <a:ext cx="2042939" cy="24263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08-d2nfap18bjvh7rlj0ib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873" y="1407713"/>
            <a:ext cx="3092012" cy="46774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62830" y="764540"/>
            <a:ext cx="6449060" cy="6115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Mastering BCNF Rules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06070" y="2719643"/>
            <a:ext cx="6450272" cy="4020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Definition of BCNF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42815" y="3141980"/>
            <a:ext cx="6713220" cy="12922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BCNF (Boyce-Codd Normal Form) requires that every determinant in a table must be a candidate key. This stricter form of normalization ensures that all dependencies are properly enforced.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06070" y="4444266"/>
            <a:ext cx="6450272" cy="4020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Benefits of BCNF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742815" y="4866640"/>
            <a:ext cx="6713220" cy="962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BCNF eliminates anomalies that can occur in 3NF. By ensuring that every determinant is a candidate key, BCNF provides a higher level of data consistency and integrity.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526" y="1951672"/>
            <a:ext cx="3780821" cy="19494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Eliminating Multi-valued Dependencies</a:t>
            </a:r>
            <a:endParaRPr lang="en-US" sz="1600" dirty="0"/>
          </a:p>
        </p:txBody>
      </p:sp>
      <p:pic>
        <p:nvPicPr>
          <p:cNvPr id="3" name="Image 0" descr="https://kimi-img.moonshot.cn/pub/slides/slides_tmpl/image/25-08-27-20:09:12-d2nfaq18bjvh7rlj0io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577" y="325045"/>
            <a:ext cx="4174299" cy="627124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424827" y="645525"/>
            <a:ext cx="6084835" cy="5566950"/>
          </a:xfrm>
          <a:prstGeom prst="rect">
            <a:avLst/>
          </a:prstGeom>
          <a:solidFill>
            <a:srgbClr val="0D0D0D">
              <a:alpha val="72941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4424827" y="645525"/>
            <a:ext cx="6084835" cy="55669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819575" y="1135628"/>
            <a:ext cx="363255" cy="36325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26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19575" y="1135628"/>
            <a:ext cx="363255" cy="3632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082972" y="1154416"/>
            <a:ext cx="325677" cy="325677"/>
          </a:xfrm>
          <a:prstGeom prst="ellipse">
            <a:avLst/>
          </a:prstGeom>
          <a:solidFill>
            <a:srgbClr val="9DB4E1"/>
          </a:solidFill>
          <a:ln/>
        </p:spPr>
      </p:sp>
      <p:sp>
        <p:nvSpPr>
          <p:cNvPr id="9" name="Text 6"/>
          <p:cNvSpPr/>
          <p:nvPr/>
        </p:nvSpPr>
        <p:spPr>
          <a:xfrm>
            <a:off x="2082972" y="1154416"/>
            <a:ext cx="325677" cy="32567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145351" y="1303561"/>
            <a:ext cx="225819" cy="1819"/>
          </a:xfrm>
          <a:prstGeom prst="straightConnector1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4672141" y="1071726"/>
            <a:ext cx="5651474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Introduction to 4NF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672330" y="1471930"/>
            <a:ext cx="5828030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4NF (Fourth Normal Form) focuses on eliminating multi-valued dependencies. This means that a table should not contain multiple sets of independent attributes.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44526" y="3220505"/>
            <a:ext cx="5651474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1D2123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Identifying Violations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44526" y="3620615"/>
            <a:ext cx="3776649" cy="14561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D2123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A table violates 4NF if it contains multiple independent sets of attributes for the same entity. This can lead to redundancy and inconsistencies.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672141" y="2686267"/>
            <a:ext cx="5651474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Solution: Decomposition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672330" y="3086100"/>
            <a:ext cx="5782310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To achieve 4NF, decompose the table into smaller tables. This removes multi-valued dependencies and ensures that each table contains only one set of related attributes.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672141" y="4372060"/>
            <a:ext cx="5651474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Example Scenario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672330" y="4772025"/>
            <a:ext cx="5781675" cy="1159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Consider a table storing employee skills and languages. Decomposing this table into separate tables for skills and languages eliminates redundancy and improves data integrity.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04-d2nfao18bjvh7rlj0i4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872" y="1341096"/>
            <a:ext cx="2222754" cy="276225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3525" y="481330"/>
            <a:ext cx="8728075" cy="7429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Achieving Fifth Normal Form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832304" y="748641"/>
            <a:ext cx="2304256" cy="0"/>
          </a:xfrm>
          <a:prstGeom prst="straightConnector1">
            <a:avLst/>
          </a:prstGeom>
          <a:noFill/>
          <a:ln w="9525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7" name="Text 4"/>
          <p:cNvSpPr/>
          <p:nvPr/>
        </p:nvSpPr>
        <p:spPr>
          <a:xfrm>
            <a:off x="1880553" y="4166870"/>
            <a:ext cx="8349615" cy="5417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Definition and Importance of 5NF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7715" y="4930775"/>
            <a:ext cx="10810875" cy="13557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5NF (Fifth Normal Form) eliminates join dependencies. It ensures that data can be reconstructed from smaller tables without loss of information, maintaining data integrity and consistency.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41728"/>
          </a:xfrm>
          <a:prstGeom prst="rect">
            <a:avLst/>
          </a:prstGeom>
          <a:gradFill flip="none" rotWithShape="1">
            <a:gsLst>
              <a:gs pos="0">
                <a:srgbClr val="2F5596"/>
              </a:gs>
              <a:gs pos="27000">
                <a:srgbClr val="7095BC"/>
              </a:gs>
              <a:gs pos="72000">
                <a:srgbClr val="B0D5E1"/>
              </a:gs>
              <a:gs pos="100000">
                <a:srgbClr val="C2F5E1"/>
              </a:gs>
            </a:gsLst>
            <a:lin ang="4800000" scaled="1"/>
          </a:gradFill>
          <a:ln w="12700">
            <a:solidFill>
              <a:srgbClr val="0911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2000" cy="684172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10-d2nfaph8bjvh7rlj0ii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16202"/>
            <a:ext cx="12192000" cy="26255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5960" y="738505"/>
            <a:ext cx="9124950" cy="6115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Normalization Ladder Recap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056440" y="983258"/>
            <a:ext cx="1106564" cy="0"/>
          </a:xfrm>
          <a:prstGeom prst="straightConnector1">
            <a:avLst/>
          </a:prstGeom>
          <a:noFill/>
          <a:ln w="15875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7" name="Text 4"/>
          <p:cNvSpPr/>
          <p:nvPr/>
        </p:nvSpPr>
        <p:spPr>
          <a:xfrm>
            <a:off x="695960" y="1735455"/>
            <a:ext cx="5632450" cy="4020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Normalization Steps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5960" y="2493010"/>
            <a:ext cx="5067935" cy="22828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Normalization progresses through several forms: 1NF removes repeating groups, 2NF eliminates partial dependencies, 3NF removes transitive dependencies, BCNF ensures determinants are candidate keys, 4NF eliminates multi-valued dependencies, and 5NF removes join dependencies.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56045" y="1749425"/>
            <a:ext cx="5152390" cy="4020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Practical Application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56045" y="2493010"/>
            <a:ext cx="5067935" cy="12922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Each normalization form builds on the previous one, providing a systematic approach to designing efficient and consistent database schemas.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471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Indexing &amp; Query Optimization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11-d2nfapp8bjvh7rlj0ik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668" y="3158118"/>
            <a:ext cx="7772400" cy="31844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87375" y="548640"/>
            <a:ext cx="7248525" cy="6115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000000"/>
                </a:solidFill>
                <a:latin typeface="Source Han Sans SC Bold" pitchFamily="34" charset="0"/>
                <a:ea typeface="Source Han Sans SC Bold" pitchFamily="34" charset="-122"/>
                <a:cs typeface="Source Han Sans SC Bold" pitchFamily="34" charset="-120"/>
              </a:rPr>
              <a:t>Index Fundamentals Explained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87195" y="2276872"/>
            <a:ext cx="6588925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What is an Index?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87375" y="2681605"/>
            <a:ext cx="5427980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0D0D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An index is a data structure that improves query speed by allowing quick lookups. It maps key values to row locators, speeding up search operations.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305165" y="842010"/>
            <a:ext cx="3493135" cy="3771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Types of Indexes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305387" y="1246654"/>
            <a:ext cx="3430797" cy="14561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0D0D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Indexes come in various types, including primary, unique, composite, and full-text indexes. Each type serves specific use cases and query patterns.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28025" y="3933190"/>
            <a:ext cx="3500755" cy="2863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Trade-offs of Indexing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305387" y="4365154"/>
            <a:ext cx="3430797" cy="14561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D0D0D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While indexes speed up SELECT queries, they can slow down INSERT, UPDATE, and DELETE operations. They also require additional storage space.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15680" y="1182980"/>
            <a:ext cx="1584176" cy="3060160"/>
          </a:xfrm>
          <a:custGeom>
            <a:avLst/>
            <a:gdLst/>
            <a:ahLst/>
            <a:cxnLst/>
            <a:rect l="l" t="t" r="r" b="b"/>
            <a:pathLst>
              <a:path w="1584176" h="3060160">
                <a:moveTo>
                  <a:pt x="0" y="0"/>
                </a:moveTo>
                <a:lnTo>
                  <a:pt x="1584176" y="0"/>
                </a:lnTo>
                <a:lnTo>
                  <a:pt x="1584176" y="115069"/>
                </a:lnTo>
                <a:lnTo>
                  <a:pt x="1584176" y="249136"/>
                </a:lnTo>
                <a:lnTo>
                  <a:pt x="1584176" y="3060160"/>
                </a:lnTo>
                <a:lnTo>
                  <a:pt x="1160548" y="3060160"/>
                </a:lnTo>
                <a:lnTo>
                  <a:pt x="1160548" y="249136"/>
                </a:lnTo>
                <a:lnTo>
                  <a:pt x="0" y="249136"/>
                </a:lnTo>
                <a:close/>
              </a:path>
            </a:pathLst>
          </a:custGeom>
          <a:gradFill flip="none" rotWithShape="1">
            <a:gsLst>
              <a:gs pos="0">
                <a:srgbClr val="3A4F72"/>
              </a:gs>
              <a:gs pos="67000">
                <a:srgbClr val="7EA2AA"/>
              </a:gs>
              <a:gs pos="100000">
                <a:srgbClr val="C2F5E1"/>
              </a:gs>
            </a:gsLst>
            <a:lin ang="540000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3215680" y="1182980"/>
            <a:ext cx="1584176" cy="3060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3392" y="4659597"/>
            <a:ext cx="4425189" cy="12805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Choosing Optimal Index Types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44272" y="843214"/>
            <a:ext cx="252602" cy="252616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B5C7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44272" y="843214"/>
            <a:ext cx="252602" cy="252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9" name="Image 0" descr="https://kimi-img.moonshot.cn/pub/slides/slides_tmpl/image/25-08-27-20:09:12-d2nfaq18bjvh7rlj0ip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36" y="1429732"/>
            <a:ext cx="1812087" cy="1180827"/>
          </a:xfrm>
          <a:prstGeom prst="rect">
            <a:avLst/>
          </a:prstGeom>
        </p:spPr>
      </p:pic>
      <p:pic>
        <p:nvPicPr>
          <p:cNvPr id="10" name="Image 1" descr="https://kimi-img.moonshot.cn/pub/slides/slides_tmpl/image/25-08-27-20:09:12-d2nfaq18bjvh7rlj0ip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736" y="1418626"/>
            <a:ext cx="1812088" cy="1177204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20:09:12-d2nfaq18bjvh7rlj0iq0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2895" y="2889263"/>
            <a:ext cx="3828929" cy="1353877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82895" y="3843470"/>
            <a:ext cx="423820" cy="399670"/>
          </a:xfrm>
          <a:prstGeom prst="rect">
            <a:avLst/>
          </a:prstGeom>
          <a:solidFill>
            <a:srgbClr val="9DB4E0"/>
          </a:solidFill>
          <a:ln/>
        </p:spPr>
      </p:sp>
      <p:sp>
        <p:nvSpPr>
          <p:cNvPr id="13" name="Text 8"/>
          <p:cNvSpPr/>
          <p:nvPr/>
        </p:nvSpPr>
        <p:spPr>
          <a:xfrm>
            <a:off x="682895" y="3843470"/>
            <a:ext cx="423820" cy="399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8544272" y="3804009"/>
            <a:ext cx="252602" cy="252616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B5C7E7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544272" y="3804009"/>
            <a:ext cx="252602" cy="252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268637" y="843214"/>
            <a:ext cx="252602" cy="252616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B5C7E7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268637" y="843214"/>
            <a:ext cx="252602" cy="252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268637" y="3799372"/>
            <a:ext cx="252602" cy="252616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B5C7E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268637" y="3799372"/>
            <a:ext cx="252602" cy="252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767408" y="4066765"/>
            <a:ext cx="288032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21" name="Text 16"/>
          <p:cNvSpPr/>
          <p:nvPr/>
        </p:nvSpPr>
        <p:spPr>
          <a:xfrm>
            <a:off x="5340644" y="901706"/>
            <a:ext cx="2983571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Primary Index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5340350" y="1605280"/>
            <a:ext cx="3172460" cy="1159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A primary index is a unique index on the primary key. It ensures data uniqueness and provides fast access to records.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616279" y="901706"/>
            <a:ext cx="2983571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Unique Index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616315" y="1605280"/>
            <a:ext cx="3162300" cy="1159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A unique index ensures that all values in a column are unique. It is useful for enforcing uniqueness constraints.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5340644" y="3857864"/>
            <a:ext cx="2983571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Composite Index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5340350" y="4561840"/>
            <a:ext cx="3204210" cy="14561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A composite index is created on multiple columns. It is useful for queries that filter on multiple columns simultaneously.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8616279" y="3862501"/>
            <a:ext cx="2983571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Full-Text Index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8616315" y="4566285"/>
            <a:ext cx="3131820" cy="14561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A full-text index is used for text searching. It allows efficient searching of large text fields, such as in document-based databases.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47971" y="819082"/>
            <a:ext cx="4677917" cy="5490238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6847971" y="819082"/>
            <a:ext cx="4677917" cy="549023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3575" y="5517515"/>
            <a:ext cx="6209030" cy="7804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Query Execution Plans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8-27-20:09:07-d2nfaop8bjvh7rlj0i9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7445" y="1597073"/>
            <a:ext cx="4697341" cy="264225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7408" y="1597073"/>
            <a:ext cx="1030037" cy="631057"/>
          </a:xfrm>
          <a:prstGeom prst="rect">
            <a:avLst/>
          </a:prstGeom>
          <a:solidFill>
            <a:srgbClr val="9DB4E0"/>
          </a:solidFill>
          <a:ln/>
        </p:spPr>
      </p:sp>
      <p:sp>
        <p:nvSpPr>
          <p:cNvPr id="7" name="Text 4"/>
          <p:cNvSpPr/>
          <p:nvPr/>
        </p:nvSpPr>
        <p:spPr>
          <a:xfrm>
            <a:off x="767408" y="1597073"/>
            <a:ext cx="1030037" cy="63105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27448" y="1916832"/>
            <a:ext cx="288032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6892290" y="1269365"/>
            <a:ext cx="4576445" cy="7181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Understanding Execution Plans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024688" y="2030506"/>
            <a:ext cx="4263303" cy="1159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Execution plans provide a visual representation of how the database executes queries. They help identify bottlenecks and optimize performance.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82130" y="4077335"/>
            <a:ext cx="4504055" cy="4020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Optimizing Queries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024688" y="4540101"/>
            <a:ext cx="4263303" cy="14561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Use tools like EXPLAIN to analyze query execution plans. Ensure proper use of indexes, avoid SELECT *, and optimize JOINs and WHERE clauses for better performance.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2455" y="1383665"/>
            <a:ext cx="7461250" cy="6731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Balancing Index Trade-offs</a:t>
            </a:r>
            <a:endParaRPr lang="en-US" sz="1600" dirty="0"/>
          </a:p>
        </p:txBody>
      </p:sp>
      <p:pic>
        <p:nvPicPr>
          <p:cNvPr id="3" name="Image 0" descr="https://kimi-img.moonshot.cn/pub/slides/slides_tmpl/image/25-08-27-20:09:06-d2nfaoh8bjvh7rlj0i7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222" y="1230728"/>
            <a:ext cx="3429629" cy="464231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95325" y="3455035"/>
            <a:ext cx="1270635" cy="2350135"/>
          </a:xfrm>
          <a:prstGeom prst="rect">
            <a:avLst/>
          </a:prstGeom>
          <a:solidFill>
            <a:srgbClr val="9DB4E1"/>
          </a:solidFill>
          <a:ln/>
        </p:spPr>
      </p:sp>
      <p:sp>
        <p:nvSpPr>
          <p:cNvPr id="5" name="Text 2"/>
          <p:cNvSpPr/>
          <p:nvPr/>
        </p:nvSpPr>
        <p:spPr>
          <a:xfrm>
            <a:off x="695325" y="3455035"/>
            <a:ext cx="1270635" cy="23501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135505" y="3455035"/>
            <a:ext cx="6069965" cy="471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Advantages and Disadvantages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135505" y="4076700"/>
            <a:ext cx="5220335" cy="13887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Indexes offer faster query performance and efficient lookups but can slow down write operations and increase storage requirements. Balancing these trade-offs is crucial for optimal database performance.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471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ACID Transactions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09-d2nfap98bjvh7rlj0id0.png"/>
          <p:cNvPicPr>
            <a:picLocks noChangeAspect="1"/>
          </p:cNvPicPr>
          <p:nvPr/>
        </p:nvPicPr>
        <p:blipFill>
          <a:blip r:embed="rId3"/>
          <a:srcRect t="35461"/>
          <a:stretch/>
        </p:blipFill>
        <p:spPr>
          <a:xfrm>
            <a:off x="-957580" y="1616075"/>
            <a:ext cx="14110335" cy="52419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6435" y="620713"/>
            <a:ext cx="10944225" cy="6115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Transaction Concepts Defined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8-27-20:09:09-d2nfap98bjvh7rlj0idg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961045" y="2195814"/>
            <a:ext cx="2989665" cy="154914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28892" y="4079855"/>
            <a:ext cx="270304" cy="270319"/>
          </a:xfrm>
          <a:prstGeom prst="ellipse">
            <a:avLst/>
          </a:prstGeom>
          <a:solidFill>
            <a:srgbClr val="000000">
              <a:alpha val="0"/>
            </a:srgbClr>
          </a:solidFill>
          <a:ln w="92075">
            <a:solidFill>
              <a:srgbClr val="9DB4E1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28892" y="4079855"/>
            <a:ext cx="270304" cy="270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6474237" y="4079855"/>
            <a:ext cx="270304" cy="270319"/>
          </a:xfrm>
          <a:prstGeom prst="ellipse">
            <a:avLst/>
          </a:prstGeom>
          <a:solidFill>
            <a:srgbClr val="000000">
              <a:alpha val="0"/>
            </a:srgbClr>
          </a:solidFill>
          <a:ln w="92075">
            <a:solidFill>
              <a:srgbClr val="9DB4E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74237" y="4079855"/>
            <a:ext cx="270304" cy="270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9" name="Image 2" descr="https://kimi-img.moonshot.cn/pub/slides/slides_tmpl/image/25-08-27-20:09:09-d2nfap98bjvh7rlj0ie0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986337" y="2188285"/>
            <a:ext cx="2613513" cy="1530702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8-27-20:09:09-d2nfap98bjvh7rlj0ifg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59291" y="2182214"/>
            <a:ext cx="2599731" cy="1522629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8-27-20:09:09-d2nfap98bjvh7rlj0if0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8102" y="2199944"/>
            <a:ext cx="2274362" cy="155615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-96688" y="4140646"/>
            <a:ext cx="6482735" cy="471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What is a Transaction?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388566" y="4737408"/>
            <a:ext cx="5512227" cy="12922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A transaction is a sequence of one or more operations executed as a single unit. It ensures that the database transitions from one consistent state to another.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5640084" y="4140646"/>
            <a:ext cx="6482735" cy="471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Importance of ACID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6125338" y="4737408"/>
            <a:ext cx="5512227" cy="962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ACID properties (Atomicity, Consistency, Isolation, Durability) ensure that transactions are processed reliably and maintain data integrity.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16-d2nfar18bjvh7rlj0iu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40332" y="-62186"/>
            <a:ext cx="12232332" cy="6959798"/>
          </a:xfrm>
          <a:prstGeom prst="rect">
            <a:avLst/>
          </a:prstGeom>
          <a:solidFill>
            <a:srgbClr val="333F4F">
              <a:alpha val="47843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-40332" y="-62186"/>
            <a:ext cx="12232332" cy="695979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5" name="Image 1" descr="https://kimi-img.moonshot.cn/pub/slides/slides_tmpl/image/25-08-27-20:09:12-d2nfaq18bjvh7rlj0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49080"/>
            <a:ext cx="12192000" cy="156198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58496" y="5711298"/>
            <a:ext cx="8352928" cy="14097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Atomicity Consistency Isolation Durability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5699956" y="5462750"/>
            <a:ext cx="792088" cy="535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4"/>
          <p:cNvSpPr/>
          <p:nvPr/>
        </p:nvSpPr>
        <p:spPr>
          <a:xfrm>
            <a:off x="5699956" y="5462750"/>
            <a:ext cx="792088" cy="5353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 rot="10800000">
            <a:off x="1497429" y="4572950"/>
            <a:ext cx="360039" cy="29621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" name="Text 6"/>
          <p:cNvSpPr/>
          <p:nvPr/>
        </p:nvSpPr>
        <p:spPr>
          <a:xfrm rot="10800000">
            <a:off x="1497429" y="4572950"/>
            <a:ext cx="360039" cy="2962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497430" y="4407422"/>
            <a:ext cx="360039" cy="63731"/>
          </a:xfrm>
          <a:prstGeom prst="rect">
            <a:avLst/>
          </a:prstGeom>
          <a:solidFill>
            <a:srgbClr val="9DB4E1"/>
          </a:solidFill>
          <a:ln/>
        </p:spPr>
      </p:sp>
      <p:sp>
        <p:nvSpPr>
          <p:cNvPr id="12" name="Text 8"/>
          <p:cNvSpPr/>
          <p:nvPr/>
        </p:nvSpPr>
        <p:spPr>
          <a:xfrm>
            <a:off x="1497430" y="4407422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 rot="10800000">
            <a:off x="4448201" y="3412513"/>
            <a:ext cx="360039" cy="29621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4" name="Text 10"/>
          <p:cNvSpPr/>
          <p:nvPr/>
        </p:nvSpPr>
        <p:spPr>
          <a:xfrm rot="10800000">
            <a:off x="4448201" y="3412513"/>
            <a:ext cx="360039" cy="2962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448202" y="3246985"/>
            <a:ext cx="360039" cy="63731"/>
          </a:xfrm>
          <a:prstGeom prst="rect">
            <a:avLst/>
          </a:prstGeom>
          <a:solidFill>
            <a:srgbClr val="9DB4E1"/>
          </a:solidFill>
          <a:ln/>
        </p:spPr>
      </p:sp>
      <p:sp>
        <p:nvSpPr>
          <p:cNvPr id="16" name="Text 12"/>
          <p:cNvSpPr/>
          <p:nvPr/>
        </p:nvSpPr>
        <p:spPr>
          <a:xfrm>
            <a:off x="4448202" y="3246985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 rot="10800000">
            <a:off x="7438780" y="3410477"/>
            <a:ext cx="360039" cy="29621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8" name="Text 14"/>
          <p:cNvSpPr/>
          <p:nvPr/>
        </p:nvSpPr>
        <p:spPr>
          <a:xfrm rot="10800000">
            <a:off x="7438780" y="3410477"/>
            <a:ext cx="360039" cy="2962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7438781" y="3244949"/>
            <a:ext cx="360039" cy="63731"/>
          </a:xfrm>
          <a:prstGeom prst="rect">
            <a:avLst/>
          </a:prstGeom>
          <a:solidFill>
            <a:srgbClr val="9DB4E1"/>
          </a:solidFill>
          <a:ln/>
        </p:spPr>
      </p:sp>
      <p:sp>
        <p:nvSpPr>
          <p:cNvPr id="20" name="Text 16"/>
          <p:cNvSpPr/>
          <p:nvPr/>
        </p:nvSpPr>
        <p:spPr>
          <a:xfrm>
            <a:off x="7438781" y="3244949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 rot="10800000">
            <a:off x="10375747" y="4276740"/>
            <a:ext cx="360039" cy="29621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2" name="Text 18"/>
          <p:cNvSpPr/>
          <p:nvPr/>
        </p:nvSpPr>
        <p:spPr>
          <a:xfrm rot="10800000">
            <a:off x="10375747" y="4276740"/>
            <a:ext cx="360039" cy="2962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10375748" y="4111212"/>
            <a:ext cx="360039" cy="63731"/>
          </a:xfrm>
          <a:prstGeom prst="rect">
            <a:avLst/>
          </a:prstGeom>
          <a:solidFill>
            <a:srgbClr val="9DB4E1"/>
          </a:solidFill>
          <a:ln/>
        </p:spPr>
      </p:sp>
      <p:sp>
        <p:nvSpPr>
          <p:cNvPr id="24" name="Text 20"/>
          <p:cNvSpPr/>
          <p:nvPr/>
        </p:nvSpPr>
        <p:spPr>
          <a:xfrm>
            <a:off x="10375748" y="4111212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1384887" y="1208615"/>
            <a:ext cx="585125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9DB4E1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01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-312712" y="1515846"/>
            <a:ext cx="3980322" cy="3016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Atomicity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309297" y="1957021"/>
            <a:ext cx="2736304" cy="2048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Atomicity ensures that all or none of the operations in a transaction are completed. This prevents partial updates and maintains data consistency.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4335659" y="119933"/>
            <a:ext cx="585125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9DB4E1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02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2638060" y="427164"/>
            <a:ext cx="3980322" cy="3016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Consistency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3260069" y="796584"/>
            <a:ext cx="2736304" cy="1752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Consistency guarantees that the database remains in a valid state before and after the transaction. It enforces business rules and constraints.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7326238" y="117897"/>
            <a:ext cx="585125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9DB4E1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03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5628639" y="425128"/>
            <a:ext cx="3980322" cy="3016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Isolation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6250648" y="794548"/>
            <a:ext cx="2736304" cy="1752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Isolation ensures that concurrent transactions do not interfere with each other. It maintains the integrity of each transaction.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10263205" y="912405"/>
            <a:ext cx="585125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9DB4E1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04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8565606" y="1219636"/>
            <a:ext cx="3980322" cy="3016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Durability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9187615" y="1660811"/>
            <a:ext cx="2736304" cy="2048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Durability ensures that once a transaction is committed, its effects are permanent, even if the system crashes. This guarantees data persistence.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3185" y="-99695"/>
            <a:ext cx="12440920" cy="7056755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-83185" y="-99695"/>
            <a:ext cx="12440920" cy="7056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135505" y="546100"/>
            <a:ext cx="3051810" cy="33667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135505" y="546100"/>
            <a:ext cx="3051810" cy="3366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6" name="Image 0" descr="https://kimi-img.moonshot.cn/pub/slides/slides_tmpl/image/25-08-27-20:09:11-d2nfapp8bjvh7rlj0ij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65752" y="832007"/>
            <a:ext cx="2254593" cy="2706833"/>
          </a:xfrm>
          <a:prstGeom prst="rect">
            <a:avLst/>
          </a:prstGeom>
        </p:spPr>
      </p:pic>
      <p:pic>
        <p:nvPicPr>
          <p:cNvPr id="7" name="Image 1" descr="https://kimi-img.moonshot.cn/pub/slides/slides_tmpl/image/25-08-27-20:09:11-d2nfapp8bjvh7rlj0ijg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30462" y="832007"/>
            <a:ext cx="2254593" cy="2706833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8-27-20:09:11-d2nfapp8bjvh7rlj0ikg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544745" y="832007"/>
            <a:ext cx="2254250" cy="2706834"/>
          </a:xfrm>
          <a:prstGeom prst="rect">
            <a:avLst/>
          </a:prstGeom>
        </p:spPr>
      </p:pic>
      <p:pic>
        <p:nvPicPr>
          <p:cNvPr id="9" name="Image 3" descr="https://kimi-img.moonshot.cn/pub/slides/slides_tmpl/image/25-08-27-20:09:11-d2nfapp8bjvh7rlj0il0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858685" y="832007"/>
            <a:ext cx="2254250" cy="2706833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2178798" y="819083"/>
            <a:ext cx="2961707" cy="2719757"/>
          </a:xfrm>
          <a:prstGeom prst="rect">
            <a:avLst/>
          </a:prstGeom>
          <a:solidFill>
            <a:srgbClr val="FFFFFF">
              <a:alpha val="90980"/>
            </a:srgbClr>
          </a:solidFill>
          <a:ln/>
        </p:spPr>
      </p:sp>
      <p:sp>
        <p:nvSpPr>
          <p:cNvPr id="11" name="Text 5"/>
          <p:cNvSpPr/>
          <p:nvPr/>
        </p:nvSpPr>
        <p:spPr>
          <a:xfrm>
            <a:off x="2178798" y="819083"/>
            <a:ext cx="2961707" cy="271975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592465" y="4391794"/>
            <a:ext cx="3896724" cy="12805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SQL Transaction Commands</a:t>
            </a: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>
            <a:off x="4439563" y="3320027"/>
            <a:ext cx="747408" cy="578224"/>
          </a:xfrm>
          <a:prstGeom prst="rect">
            <a:avLst/>
          </a:prstGeom>
          <a:solidFill>
            <a:srgbClr val="C2F5E1"/>
          </a:solidFill>
          <a:ln/>
        </p:spPr>
      </p:sp>
      <p:sp>
        <p:nvSpPr>
          <p:cNvPr id="14" name="Text 8"/>
          <p:cNvSpPr/>
          <p:nvPr/>
        </p:nvSpPr>
        <p:spPr>
          <a:xfrm>
            <a:off x="4439563" y="3320027"/>
            <a:ext cx="747408" cy="57822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4707858" y="3623227"/>
            <a:ext cx="288032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16" name="Text 10"/>
          <p:cNvSpPr/>
          <p:nvPr/>
        </p:nvSpPr>
        <p:spPr>
          <a:xfrm>
            <a:off x="2237411" y="755209"/>
            <a:ext cx="2831340" cy="270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BEGIN TRANSACTION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2237105" y="1228090"/>
            <a:ext cx="2679065" cy="19411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The BEGIN TRANSACTION command starts a new transaction, marking the beginning of a sequence of operations.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4932963" y="3962809"/>
            <a:ext cx="6482734" cy="270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COMMIT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069205" y="4277360"/>
            <a:ext cx="6346190" cy="5671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The COMMIT command saves all changes made during the transaction, making them permanent in the database.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5004214" y="5309475"/>
            <a:ext cx="6482735" cy="270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ROLLBACK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5172075" y="5572760"/>
            <a:ext cx="6314440" cy="5671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The ROLLBACK command reverts all changes made during the transaction, restoring the database to its previous state.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471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NoSQL Landscape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2F5596"/>
              </a:gs>
              <a:gs pos="56000">
                <a:srgbClr val="7095BC"/>
              </a:gs>
              <a:gs pos="91000">
                <a:srgbClr val="B0D5E1"/>
              </a:gs>
              <a:gs pos="100000">
                <a:srgbClr val="C2F5E1"/>
              </a:gs>
            </a:gsLst>
            <a:lin ang="4800000" scaled="1"/>
          </a:gradFill>
          <a:ln w="12700">
            <a:solidFill>
              <a:srgbClr val="0911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12-d2nfaq18bjvh7rlj0iqg.png"/>
          <p:cNvPicPr>
            <a:picLocks noChangeAspect="1"/>
          </p:cNvPicPr>
          <p:nvPr/>
        </p:nvPicPr>
        <p:blipFill>
          <a:blip r:embed="rId3">
            <a:alphaModFix amt="76000"/>
          </a:blip>
          <a:srcRect/>
          <a:stretch/>
        </p:blipFill>
        <p:spPr>
          <a:xfrm>
            <a:off x="3454805" y="1700726"/>
            <a:ext cx="5953563" cy="51572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2149" y="749211"/>
            <a:ext cx="6208735" cy="471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NoSQL Categories Overview</a:t>
            </a:r>
            <a:endParaRPr lang="en-US" sz="1600" dirty="0"/>
          </a:p>
        </p:txBody>
      </p:sp>
      <p:pic>
        <p:nvPicPr>
          <p:cNvPr id="6" name="Image 1" descr="https://kimi-img.moonshot.cn/pub/slides/slides_tmpl/image/25-08-27-20:09:12-d2nfaq18bjvh7rlj0io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19" y="1413090"/>
            <a:ext cx="6731000" cy="28194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807968" y="3573775"/>
            <a:ext cx="504056" cy="0"/>
          </a:xfrm>
          <a:prstGeom prst="straightConnector1">
            <a:avLst/>
          </a:prstGeom>
          <a:noFill/>
          <a:ln w="15875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8" name="Text 4"/>
          <p:cNvSpPr/>
          <p:nvPr/>
        </p:nvSpPr>
        <p:spPr>
          <a:xfrm>
            <a:off x="617425" y="2116403"/>
            <a:ext cx="4783771" cy="3016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Document Stores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30249" y="2454957"/>
            <a:ext cx="5177719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Document stores like MongoDB store data in flexible JSON-like documents. They are ideal for unstructured or semi-structured data.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17425" y="4288103"/>
            <a:ext cx="4783771" cy="3016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Key-Value Stores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30249" y="4626657"/>
            <a:ext cx="5177719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Key-value stores such as Redis provide fast lookups and are suitable for caching and storing simple data structures.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22925" y="1900503"/>
            <a:ext cx="4783771" cy="3016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Column-Family Stores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35749" y="2239057"/>
            <a:ext cx="5177719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Column-family stores like Cassandra are designed for large-scale data storage and are optimized for read-heavy workloads.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561025" y="4288103"/>
            <a:ext cx="4783771" cy="3016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Graph Databases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73849" y="4626657"/>
            <a:ext cx="5177719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Graph databases like Neo4j are used for data with complex relationships, such as social networks and recommendation engines.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7105" y="5513705"/>
            <a:ext cx="7889240" cy="11220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SQL versus NoSQL Compared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8-27-20:09:08-d2nfap18bjvh7rlj0ic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913" y="1053031"/>
            <a:ext cx="3472004" cy="3151189"/>
          </a:xfrm>
          <a:prstGeom prst="rect">
            <a:avLst/>
          </a:prstGeom>
        </p:spPr>
      </p:pic>
      <p:pic>
        <p:nvPicPr>
          <p:cNvPr id="6" name="Image 1" descr="https://kimi-img.moonshot.cn/pub/slides/slides_tmpl/image/25-08-27-20:09:08-d2nfap18bjvh7rlj0i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529590"/>
            <a:ext cx="1064260" cy="941070"/>
          </a:xfrm>
          <a:prstGeom prst="rect">
            <a:avLst/>
          </a:prstGeom>
        </p:spPr>
      </p:pic>
      <p:pic>
        <p:nvPicPr>
          <p:cNvPr id="7" name="Image 2" descr="https://kimi-img.moonshot.cn/pub/slides/slides_tmpl/image/25-08-27-20:09:08-d2nfap18bjvh7rlj0ib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2661920"/>
            <a:ext cx="1064260" cy="94107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99856" y="1185108"/>
            <a:ext cx="6482735" cy="4020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SQL Characteristics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4799965" y="1590040"/>
            <a:ext cx="6997065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SQL databases have a rigid schema, support ACID transactions, and are vertically scalable. They are suitable for complex queries and transactions.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4799855" y="3292048"/>
            <a:ext cx="6482735" cy="4020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NoSQL Characteristics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4799965" y="3696970"/>
            <a:ext cx="6996430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NoSQL databases are schema-less, optimized for horizontal scaling, and handle large volumes of unstructured data. They offer high performance and flexibility.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7105" y="5422900"/>
            <a:ext cx="8810625" cy="1007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When to Adopt NoSQL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8-27-20:09:11-d2nfapp8bjvh7rlj0i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50" y="554355"/>
            <a:ext cx="1414780" cy="1075690"/>
          </a:xfrm>
          <a:prstGeom prst="rect">
            <a:avLst/>
          </a:prstGeom>
        </p:spPr>
      </p:pic>
      <p:pic>
        <p:nvPicPr>
          <p:cNvPr id="6" name="Image 1" descr="https://kimi-img.moonshot.cn/pub/slides/slides_tmpl/image/25-08-27-20:09:11-d2nfapp8bjvh7rlj0im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5615" y="554355"/>
            <a:ext cx="1414780" cy="1075690"/>
          </a:xfrm>
          <a:prstGeom prst="rect">
            <a:avLst/>
          </a:prstGeom>
        </p:spPr>
      </p:pic>
      <p:pic>
        <p:nvPicPr>
          <p:cNvPr id="7" name="Image 2" descr="https://kimi-img.moonshot.cn/pub/slides/slides_tmpl/image/25-08-27-20:09:11-d2nfapp8bjvh7rlj0i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890" y="559435"/>
            <a:ext cx="1414780" cy="107569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39470" y="1245870"/>
            <a:ext cx="3388360" cy="6972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High-Velocity Data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839470" y="2224405"/>
            <a:ext cx="3239770" cy="2788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NoSQL is ideal for high-velocity data ingestion, such as real-time analytics and IoT data, where speed and scalability are critical.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4534535" y="1245870"/>
            <a:ext cx="3388360" cy="6972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Flexible Schema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4534535" y="2224405"/>
            <a:ext cx="3239770" cy="2788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NoSQL databases offer flexible schemas that can evolve quickly, making them suitable for applications with changing data requirements.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161655" y="1245870"/>
            <a:ext cx="3477260" cy="9884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Complex Data Structures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161655" y="2224405"/>
            <a:ext cx="3239770" cy="2788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NoSQL is well-suited for applications with complex, evolving data structures, such as social networks and content management systems.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4718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Design Best Practices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10-d2nfaph8bjvh7rlj0igg.png"/>
          <p:cNvPicPr>
            <a:picLocks noChangeAspect="1"/>
          </p:cNvPicPr>
          <p:nvPr/>
        </p:nvPicPr>
        <p:blipFill>
          <a:blip r:embed="rId3"/>
          <a:srcRect r="51634"/>
          <a:stretch/>
        </p:blipFill>
        <p:spPr>
          <a:xfrm>
            <a:off x="637540" y="4911725"/>
            <a:ext cx="11061065" cy="21837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7685" y="617855"/>
            <a:ext cx="9599930" cy="6115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Core Design Principles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629349" y="1499631"/>
            <a:ext cx="359844" cy="359864"/>
          </a:xfrm>
          <a:prstGeom prst="ellipse">
            <a:avLst/>
          </a:prstGeom>
          <a:solidFill>
            <a:srgbClr val="000000">
              <a:alpha val="0"/>
            </a:srgbClr>
          </a:solidFill>
          <a:ln w="107950">
            <a:solidFill>
              <a:srgbClr val="9DB4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9349" y="1499631"/>
            <a:ext cx="359844" cy="35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6" name="Image 1" descr="https://kimi-img.moonshot.cn/pub/slides/slides_tmpl/image/25-08-27-20:09:10-d2nfaph8bjvh7rlj0ih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350" y="4361149"/>
            <a:ext cx="2157390" cy="195757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367808" y="1499631"/>
            <a:ext cx="359844" cy="359864"/>
          </a:xfrm>
          <a:prstGeom prst="ellipse">
            <a:avLst/>
          </a:prstGeom>
          <a:solidFill>
            <a:srgbClr val="000000">
              <a:alpha val="0"/>
            </a:srgbClr>
          </a:solidFill>
          <a:ln w="107950">
            <a:solidFill>
              <a:srgbClr val="9DB4E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367808" y="1499631"/>
            <a:ext cx="359844" cy="35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8122968" y="1499631"/>
            <a:ext cx="359844" cy="359864"/>
          </a:xfrm>
          <a:prstGeom prst="ellipse">
            <a:avLst/>
          </a:prstGeom>
          <a:solidFill>
            <a:srgbClr val="000000">
              <a:alpha val="0"/>
            </a:srgbClr>
          </a:solidFill>
          <a:ln w="107950">
            <a:solidFill>
              <a:srgbClr val="9DB4E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122968" y="1499631"/>
            <a:ext cx="359844" cy="35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23392" y="1609265"/>
            <a:ext cx="3542747" cy="4020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37750" y="2405563"/>
            <a:ext cx="3384373" cy="14561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Design databases that can handle increased data volume and traffic. Plan for future growth to ensure the system remains efficient and responsive.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411330" y="1609265"/>
            <a:ext cx="3542747" cy="4020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Maintainability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425688" y="2405563"/>
            <a:ext cx="3384373" cy="1752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Keep the design simple and modular. Use clear naming conventions and document assumptions to make the database easier to maintain and update.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155340" y="1609265"/>
            <a:ext cx="3542747" cy="4020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Consistency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169698" y="2405563"/>
            <a:ext cx="3384373" cy="14561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Ensure data consistency through constraints and validation rules. Use primary keys, foreign keys, and unique constraints to maintain data integrity.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2F5596"/>
              </a:gs>
              <a:gs pos="79000">
                <a:srgbClr val="7095BC"/>
              </a:gs>
              <a:gs pos="96000">
                <a:srgbClr val="B0D5E1"/>
              </a:gs>
              <a:gs pos="100000">
                <a:srgbClr val="C2F5E1"/>
              </a:gs>
            </a:gsLst>
            <a:lin ang="4800000" scaled="1"/>
          </a:gradFill>
          <a:ln w="12700">
            <a:solidFill>
              <a:srgbClr val="0911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2455" y="964565"/>
            <a:ext cx="8507730" cy="54173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Safeguarding Data Integrity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8-27-20:09:13-d2nfaq98bjvh7rlj0it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920" y="2115819"/>
            <a:ext cx="6348430" cy="48148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63285" y="1749425"/>
            <a:ext cx="5843905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Use Constraints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79160" y="2202815"/>
            <a:ext cx="5843905" cy="9620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Use primary keys, foreign keys, and unique constraints to enforce data integrity. Avoid NULL values when possible to ensure data completeness.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63285" y="4090035"/>
            <a:ext cx="5843905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Normalization and Denormalization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79160" y="4543425"/>
            <a:ext cx="5843905" cy="12922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Balance normalization for data consistency with denormalization for performance. Choose the appropriate level based on query patterns and data access requirements.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12-d2nfaq18bjvh7rlj0ir0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flipH="1">
            <a:off x="408127" y="2521292"/>
            <a:ext cx="6341541" cy="347303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1180" y="492760"/>
            <a:ext cx="6088380" cy="12858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Performance Tuning Toolkit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08305" y="1774825"/>
            <a:ext cx="5563870" cy="3016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Denormalization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36119" y="2097392"/>
            <a:ext cx="5423544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In some cases, denormalization can improve read performance by reducing the number of joins required for common queries.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61810" y="676275"/>
            <a:ext cx="4965065" cy="3016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Partitioning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61810" y="998855"/>
            <a:ext cx="4965700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Partition large tables into smaller, more manageable pieces to improve query performance and maintenance.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7365" y="2708910"/>
            <a:ext cx="4959350" cy="3016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Sharding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61810" y="3049905"/>
            <a:ext cx="4965700" cy="863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Distribute data across multiple servers to balance the load and improve performance. Sharding is particularly useful for very large datasets.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57365" y="4645660"/>
            <a:ext cx="5042535" cy="3016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Index Optimization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861810" y="5039995"/>
            <a:ext cx="4965700" cy="115986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Optimize indexes by choosing the right type and ensuring they are used effectively in queries. Regularly update statistics to maintain performance.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5035148" cy="6858001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"/>
            <a:ext cx="5035148" cy="685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06-d2nfaoh8bjvh7rlj0i6g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5148" y="-1"/>
            <a:ext cx="7178987" cy="685800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5548" y="-2259"/>
            <a:ext cx="7215145" cy="6858000"/>
          </a:xfrm>
          <a:prstGeom prst="rect">
            <a:avLst/>
          </a:prstGeom>
          <a:solidFill>
            <a:srgbClr val="404040">
              <a:alpha val="67843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025548" y="-2259"/>
            <a:ext cx="7215145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7" name="Image 1" descr="https://kimi-img.moonshot.cn/pub/slides/slides_tmpl/image/25-08-27-20:09:05-d2nfao98bjvh7rlj0i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3973" y="851740"/>
            <a:ext cx="3767263" cy="2511509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8-27-20:09:06-d2nfaoh8bjvh7rlj0i5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3973" y="3426741"/>
            <a:ext cx="3767263" cy="2496100"/>
          </a:xfrm>
          <a:prstGeom prst="rect">
            <a:avLst/>
          </a:prstGeom>
        </p:spPr>
      </p:pic>
      <p:pic>
        <p:nvPicPr>
          <p:cNvPr id="9" name="Image 3" descr="https://kimi-img.moonshot.cn/pub/slides/slides_tmpl/image/25-08-27-20:09:06-d2nfaoh8bjvh7rlj0i60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62895" y="863300"/>
            <a:ext cx="1788699" cy="1370065"/>
          </a:xfrm>
          <a:prstGeom prst="rect">
            <a:avLst/>
          </a:prstGeom>
        </p:spPr>
      </p:pic>
      <p:pic>
        <p:nvPicPr>
          <p:cNvPr id="10" name="Image 4" descr="https://kimi-img.moonshot.cn/pub/slides/slides_tmpl/image/25-08-27-20:09:06-d2nfaoh8bjvh7rlj0i7g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2163" y="2302450"/>
            <a:ext cx="1779431" cy="2387497"/>
          </a:xfrm>
          <a:prstGeom prst="rect">
            <a:avLst/>
          </a:prstGeom>
        </p:spPr>
      </p:pic>
      <p:pic>
        <p:nvPicPr>
          <p:cNvPr id="11" name="Image 5" descr="https://kimi-img.moonshot.cn/pub/slides/slides_tmpl/image/25-08-27-20:09:06-d2nfaoh8bjvh7rlj0i80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72163" y="4759032"/>
            <a:ext cx="1779431" cy="1163809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364490" y="1007110"/>
            <a:ext cx="3987800" cy="12805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Practice Lab &amp; Assessment</a:t>
            </a:r>
            <a:endParaRPr lang="en-US" sz="1600" dirty="0"/>
          </a:p>
        </p:txBody>
      </p:sp>
      <p:sp>
        <p:nvSpPr>
          <p:cNvPr id="13" name="Text 5"/>
          <p:cNvSpPr/>
          <p:nvPr/>
        </p:nvSpPr>
        <p:spPr>
          <a:xfrm>
            <a:off x="364490" y="3611880"/>
            <a:ext cx="4427220" cy="4997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9DB4E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Lab Activity</a:t>
            </a: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364490" y="4256405"/>
            <a:ext cx="4383405" cy="2402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Apply advanced normalization and indexing techniques to a real-world scenario. Optimize queries and ensure data integrity through constraints and transactions.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941127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92000" cy="694112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12-d2nfaq18bjvh7rlj0is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617" y="1561401"/>
            <a:ext cx="4553512" cy="3552547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12-d2nfaq18bjvh7rlj0isg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03121" y="1561401"/>
            <a:ext cx="2434092" cy="240862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884213" y="3119957"/>
            <a:ext cx="363255" cy="36325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884213" y="3119957"/>
            <a:ext cx="363255" cy="3632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2147610" y="3138745"/>
            <a:ext cx="325677" cy="325677"/>
          </a:xfrm>
          <a:prstGeom prst="ellipse">
            <a:avLst/>
          </a:prstGeom>
          <a:solidFill>
            <a:srgbClr val="C2F4E0"/>
          </a:solidFill>
          <a:ln/>
        </p:spPr>
      </p:sp>
      <p:sp>
        <p:nvSpPr>
          <p:cNvPr id="9" name="Text 5"/>
          <p:cNvSpPr/>
          <p:nvPr/>
        </p:nvSpPr>
        <p:spPr>
          <a:xfrm>
            <a:off x="2147610" y="3138745"/>
            <a:ext cx="325677" cy="32567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2209989" y="3287890"/>
            <a:ext cx="225819" cy="1819"/>
          </a:xfrm>
          <a:prstGeom prst="straightConnector1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pic>
        <p:nvPicPr>
          <p:cNvPr id="11" name="Image 2" descr="https://kimi-img.moonshot.cn/pub/slides/slides_tmpl/image/25-08-27-20:09:13-d2nfaq98bjvh7rlj0it0.png"/>
          <p:cNvPicPr>
            <a:picLocks noChangeAspect="1"/>
          </p:cNvPicPr>
          <p:nvPr/>
        </p:nvPicPr>
        <p:blipFill>
          <a:blip r:embed="rId5"/>
          <a:srcRect r="29701" b="29746"/>
          <a:stretch/>
        </p:blipFill>
        <p:spPr>
          <a:xfrm>
            <a:off x="654685" y="1670685"/>
            <a:ext cx="8178063" cy="370274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4237" y="5373975"/>
            <a:ext cx="2254685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Sean Wong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548274" y="5750335"/>
            <a:ext cx="4323764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2025/08/04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1445</Words>
  <Application>Microsoft Office PowerPoint</Application>
  <PresentationFormat>Widescreen</PresentationFormat>
  <Paragraphs>166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Source Han Sans SC</vt:lpstr>
      <vt:lpstr>Source Han Sans SC Bold</vt:lpstr>
      <vt:lpstr>Source Han Sans SC Light</vt:lpstr>
      <vt:lpstr>Source Han Sans SC Medium</vt:lpstr>
      <vt:lpstr>Source Han Sans SC Normal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Database Design &amp; Optimization</dc:title>
  <dc:subject>Advanced Database Design &amp; Optimization</dc:subject>
  <dc:creator>Kimi</dc:creator>
  <cp:lastModifiedBy>Sean</cp:lastModifiedBy>
  <cp:revision>2</cp:revision>
  <dcterms:created xsi:type="dcterms:W3CDTF">2025-12-05T07:11:21Z</dcterms:created>
  <dcterms:modified xsi:type="dcterms:W3CDTF">2025-12-05T07:12:59Z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{"Label":"Advanced Database Design &amp; Optimization","ContentProducer":"001191110108MACG2KBH8F10000","ProduceID":"d4p89ntr1r8qh3u7b9mg","ReservedCode1":"","ContentPropagator":"001191110108MACG2KBH8F20000","PropagateID":"d4p89ntr1r8qh3u7b9mg","ReservedCode2":""}</vt:lpwstr>
  </property>
</Properties>
</file>