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599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2.jpg"/><Relationship Id="rId3" Type="http://schemas.openxmlformats.org/officeDocument/2006/relationships/image" Target="../media/image27.jpeg"/><Relationship Id="rId7" Type="http://schemas.openxmlformats.org/officeDocument/2006/relationships/image" Target="../media/image31.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eg.jpg"/>
          <p:cNvPicPr>
            <a:picLocks noChangeAspect="1"/>
          </p:cNvPicPr>
          <p:nvPr/>
        </p:nvPicPr>
        <p:blipFill>
          <a:blip r:embed="rId3"/>
          <a:srcRect/>
          <a:stretch/>
        </p:blipFill>
        <p:spPr>
          <a:xfrm rot="5400000">
            <a:off x="3017799" y="-3017800"/>
            <a:ext cx="6156401" cy="12192000"/>
          </a:xfrm>
          <a:prstGeom prst="rect">
            <a:avLst/>
          </a:prstGeom>
        </p:spPr>
      </p:pic>
      <p:sp>
        <p:nvSpPr>
          <p:cNvPr id="3" name="Shape 0"/>
          <p:cNvSpPr/>
          <p:nvPr/>
        </p:nvSpPr>
        <p:spPr>
          <a:xfrm>
            <a:off x="0" y="4609578"/>
            <a:ext cx="12192000" cy="2357278"/>
          </a:xfrm>
          <a:prstGeom prst="rect">
            <a:avLst/>
          </a:prstGeom>
          <a:solidFill>
            <a:srgbClr val="161616"/>
          </a:solidFill>
          <a:ln w="12700">
            <a:solidFill>
              <a:srgbClr val="09111E"/>
            </a:solidFill>
            <a:prstDash val="solid"/>
          </a:ln>
        </p:spPr>
      </p:sp>
      <p:sp>
        <p:nvSpPr>
          <p:cNvPr id="4" name="Text 1"/>
          <p:cNvSpPr/>
          <p:nvPr/>
        </p:nvSpPr>
        <p:spPr>
          <a:xfrm>
            <a:off x="0" y="4609578"/>
            <a:ext cx="12192000" cy="2357278"/>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2"/>
          <p:cNvSpPr/>
          <p:nvPr/>
        </p:nvSpPr>
        <p:spPr>
          <a:xfrm>
            <a:off x="930466" y="5184885"/>
            <a:ext cx="6077403" cy="1323439"/>
          </a:xfrm>
          <a:prstGeom prst="rect">
            <a:avLst/>
          </a:prstGeom>
          <a:noFill/>
          <a:ln/>
        </p:spPr>
        <p:txBody>
          <a:bodyPr wrap="square" lIns="91440" tIns="45720" rIns="91440" bIns="45720" rtlCol="0" anchor="t">
            <a:spAutoFit/>
          </a:bodyPr>
          <a:lstStyle/>
          <a:p>
            <a:pP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Day 1: Database Design Crash Course</a:t>
            </a:r>
            <a:endParaRPr lang="en-US" sz="1600" dirty="0"/>
          </a:p>
        </p:txBody>
      </p:sp>
      <p:sp>
        <p:nvSpPr>
          <p:cNvPr id="6" name="Text 3"/>
          <p:cNvSpPr/>
          <p:nvPr/>
        </p:nvSpPr>
        <p:spPr>
          <a:xfrm>
            <a:off x="7959231" y="5662019"/>
            <a:ext cx="2254685" cy="400110"/>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7" name="Text 4"/>
          <p:cNvSpPr/>
          <p:nvPr/>
        </p:nvSpPr>
        <p:spPr>
          <a:xfrm>
            <a:off x="7983268" y="6038379"/>
            <a:ext cx="4208732"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pic>
        <p:nvPicPr>
          <p:cNvPr id="8" name="Image 1" descr="https://kimi-img.moonshot.cn/pub/slides/slides_tmpl/image/25-08-27-20:09:02-d2nfanh8bjvh7rlj0hvg.png"/>
          <p:cNvPicPr>
            <a:picLocks noChangeAspect="1"/>
          </p:cNvPicPr>
          <p:nvPr/>
        </p:nvPicPr>
        <p:blipFill>
          <a:blip r:embed="rId4"/>
          <a:stretch>
            <a:fillRect/>
          </a:stretch>
        </p:blipFill>
        <p:spPr>
          <a:xfrm>
            <a:off x="10528741" y="5110209"/>
            <a:ext cx="1323439" cy="1323439"/>
          </a:xfrm>
          <a:prstGeom prst="rect">
            <a:avLst/>
          </a:prstGeom>
        </p:spPr>
      </p:pic>
      <p:pic>
        <p:nvPicPr>
          <p:cNvPr id="9" name="Image 2" descr="https://kimi-img.moonshot.cn/pub/slides/slides_tmpl/image/25-08-27-20:09:02-d2nfanh8bjvh7rlj0hu0.png"/>
          <p:cNvPicPr>
            <a:picLocks noChangeAspect="1"/>
          </p:cNvPicPr>
          <p:nvPr/>
        </p:nvPicPr>
        <p:blipFill>
          <a:blip r:embed="rId5"/>
          <a:stretch>
            <a:fillRect/>
          </a:stretch>
        </p:blipFill>
        <p:spPr>
          <a:xfrm>
            <a:off x="411387" y="5136798"/>
            <a:ext cx="463139" cy="463139"/>
          </a:xfrm>
          <a:prstGeom prst="rect">
            <a:avLst/>
          </a:prstGeom>
        </p:spPr>
      </p:pic>
      <p:pic>
        <p:nvPicPr>
          <p:cNvPr id="10" name="Image 3" descr="https://kimi-img.moonshot.cn/pub/slides/slides_tmpl/image/25-08-27-20:09:02-d2nfanh8bjvh7rlj0hug.png"/>
          <p:cNvPicPr>
            <a:picLocks noChangeAspect="1"/>
          </p:cNvPicPr>
          <p:nvPr/>
        </p:nvPicPr>
        <p:blipFill>
          <a:blip r:embed="rId6"/>
          <a:stretch>
            <a:fillRect/>
          </a:stretch>
        </p:blipFill>
        <p:spPr>
          <a:xfrm>
            <a:off x="47770" y="3069032"/>
            <a:ext cx="2420888" cy="2420888"/>
          </a:xfrm>
          <a:prstGeom prst="rect">
            <a:avLst/>
          </a:prstGeom>
        </p:spPr>
      </p:pic>
      <p:pic>
        <p:nvPicPr>
          <p:cNvPr id="11" name="Image 4" descr="https://kimi-img.moonshot.cn/pub/slides/slides_tmpl/image/25-08-27-20:09:02-d2nfanh8bjvh7rlj0hv0.png"/>
          <p:cNvPicPr>
            <a:picLocks noChangeAspect="1"/>
          </p:cNvPicPr>
          <p:nvPr/>
        </p:nvPicPr>
        <p:blipFill>
          <a:blip r:embed="rId7"/>
          <a:stretch>
            <a:fillRect/>
          </a:stretch>
        </p:blipFill>
        <p:spPr>
          <a:xfrm>
            <a:off x="8040216" y="5231637"/>
            <a:ext cx="635000" cy="36830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101764" y="0"/>
            <a:ext cx="2916401" cy="6858000"/>
          </a:xfrm>
          <a:custGeom>
            <a:avLst/>
            <a:gdLst/>
            <a:ahLst/>
            <a:cxnLst/>
            <a:rect l="l" t="t" r="r" b="b"/>
            <a:pathLst>
              <a:path w="2916401" h="6858000">
                <a:moveTo>
                  <a:pt x="0" y="0"/>
                </a:moveTo>
                <a:lnTo>
                  <a:pt x="1310838" y="0"/>
                </a:lnTo>
                <a:lnTo>
                  <a:pt x="1453357" y="123454"/>
                </a:lnTo>
                <a:cubicBezTo>
                  <a:pt x="2352136" y="940343"/>
                  <a:pt x="2916401" y="2118776"/>
                  <a:pt x="2916401" y="3429000"/>
                </a:cubicBezTo>
                <a:cubicBezTo>
                  <a:pt x="2916401" y="4739224"/>
                  <a:pt x="2352136" y="5917657"/>
                  <a:pt x="1453357" y="6734546"/>
                </a:cubicBezTo>
                <a:lnTo>
                  <a:pt x="1310838" y="6858000"/>
                </a:lnTo>
                <a:lnTo>
                  <a:pt x="220806" y="6858000"/>
                </a:lnTo>
                <a:lnTo>
                  <a:pt x="224168" y="6856279"/>
                </a:lnTo>
                <a:cubicBezTo>
                  <a:pt x="1419763" y="6206792"/>
                  <a:pt x="2231395" y="4940069"/>
                  <a:pt x="2231395" y="3483779"/>
                </a:cubicBezTo>
                <a:cubicBezTo>
                  <a:pt x="2231395" y="1961294"/>
                  <a:pt x="1344301" y="646001"/>
                  <a:pt x="58792" y="26579"/>
                </a:cubicBezTo>
                <a:close/>
              </a:path>
            </a:pathLst>
          </a:custGeom>
          <a:solidFill>
            <a:srgbClr val="F3F3F7"/>
          </a:solidFill>
          <a:ln/>
        </p:spPr>
      </p:sp>
      <p:sp>
        <p:nvSpPr>
          <p:cNvPr id="3" name="Text 1"/>
          <p:cNvSpPr/>
          <p:nvPr/>
        </p:nvSpPr>
        <p:spPr>
          <a:xfrm>
            <a:off x="2101764" y="0"/>
            <a:ext cx="2916401"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958283" y="4784098"/>
            <a:ext cx="231418" cy="231418"/>
          </a:xfrm>
          <a:prstGeom prst="rect">
            <a:avLst/>
          </a:prstGeom>
          <a:solidFill>
            <a:srgbClr val="D2F9E9"/>
          </a:solidFill>
          <a:ln/>
        </p:spPr>
      </p:sp>
      <p:sp>
        <p:nvSpPr>
          <p:cNvPr id="5" name="Text 3"/>
          <p:cNvSpPr/>
          <p:nvPr/>
        </p:nvSpPr>
        <p:spPr>
          <a:xfrm>
            <a:off x="958283" y="478409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958283" y="3070930"/>
            <a:ext cx="231418" cy="231418"/>
          </a:xfrm>
          <a:prstGeom prst="rect">
            <a:avLst/>
          </a:prstGeom>
          <a:solidFill>
            <a:srgbClr val="8FABDB"/>
          </a:solidFill>
          <a:ln/>
        </p:spPr>
      </p:sp>
      <p:sp>
        <p:nvSpPr>
          <p:cNvPr id="7" name="Text 5"/>
          <p:cNvSpPr/>
          <p:nvPr/>
        </p:nvSpPr>
        <p:spPr>
          <a:xfrm>
            <a:off x="958283" y="3070930"/>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958283" y="3508088"/>
            <a:ext cx="231418" cy="231418"/>
          </a:xfrm>
          <a:prstGeom prst="rect">
            <a:avLst/>
          </a:prstGeom>
          <a:solidFill>
            <a:srgbClr val="B3C5E6"/>
          </a:solidFill>
          <a:ln/>
        </p:spPr>
      </p:sp>
      <p:sp>
        <p:nvSpPr>
          <p:cNvPr id="9" name="Text 7"/>
          <p:cNvSpPr/>
          <p:nvPr/>
        </p:nvSpPr>
        <p:spPr>
          <a:xfrm>
            <a:off x="958283" y="35080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958283" y="3736938"/>
            <a:ext cx="231418" cy="231418"/>
          </a:xfrm>
          <a:prstGeom prst="rect">
            <a:avLst/>
          </a:prstGeom>
          <a:solidFill>
            <a:srgbClr val="B2D0E3"/>
          </a:solidFill>
          <a:ln/>
        </p:spPr>
      </p:sp>
      <p:sp>
        <p:nvSpPr>
          <p:cNvPr id="11" name="Text 9"/>
          <p:cNvSpPr/>
          <p:nvPr/>
        </p:nvSpPr>
        <p:spPr>
          <a:xfrm>
            <a:off x="958283" y="373693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10"/>
          <p:cNvSpPr/>
          <p:nvPr/>
        </p:nvSpPr>
        <p:spPr>
          <a:xfrm>
            <a:off x="958283" y="3944784"/>
            <a:ext cx="231418" cy="231418"/>
          </a:xfrm>
          <a:prstGeom prst="rect">
            <a:avLst/>
          </a:prstGeom>
          <a:solidFill>
            <a:srgbClr val="B7DBE3"/>
          </a:solidFill>
          <a:ln/>
        </p:spPr>
      </p:sp>
      <p:sp>
        <p:nvSpPr>
          <p:cNvPr id="13" name="Text 11"/>
          <p:cNvSpPr/>
          <p:nvPr/>
        </p:nvSpPr>
        <p:spPr>
          <a:xfrm>
            <a:off x="958283" y="39447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2"/>
          <p:cNvSpPr/>
          <p:nvPr/>
        </p:nvSpPr>
        <p:spPr>
          <a:xfrm>
            <a:off x="958283" y="4173384"/>
            <a:ext cx="231418" cy="231418"/>
          </a:xfrm>
          <a:prstGeom prst="rect">
            <a:avLst/>
          </a:prstGeom>
          <a:solidFill>
            <a:srgbClr val="BAE3E1"/>
          </a:solidFill>
          <a:ln/>
        </p:spPr>
      </p:sp>
      <p:sp>
        <p:nvSpPr>
          <p:cNvPr id="15" name="Text 13"/>
          <p:cNvSpPr/>
          <p:nvPr/>
        </p:nvSpPr>
        <p:spPr>
          <a:xfrm>
            <a:off x="958283" y="4173384"/>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4"/>
          <p:cNvSpPr/>
          <p:nvPr/>
        </p:nvSpPr>
        <p:spPr>
          <a:xfrm>
            <a:off x="958283" y="4372618"/>
            <a:ext cx="231418" cy="231418"/>
          </a:xfrm>
          <a:prstGeom prst="rect">
            <a:avLst/>
          </a:prstGeom>
          <a:solidFill>
            <a:srgbClr val="BEEDE1"/>
          </a:solidFill>
          <a:ln/>
        </p:spPr>
      </p:sp>
      <p:sp>
        <p:nvSpPr>
          <p:cNvPr id="17" name="Text 15"/>
          <p:cNvSpPr/>
          <p:nvPr/>
        </p:nvSpPr>
        <p:spPr>
          <a:xfrm>
            <a:off x="958283" y="43726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p:cNvSpPr/>
          <p:nvPr/>
        </p:nvSpPr>
        <p:spPr>
          <a:xfrm>
            <a:off x="958283" y="4589788"/>
            <a:ext cx="231418" cy="231418"/>
          </a:xfrm>
          <a:prstGeom prst="rect">
            <a:avLst/>
          </a:prstGeom>
          <a:solidFill>
            <a:srgbClr val="C9F7E4"/>
          </a:solidFill>
          <a:ln/>
        </p:spPr>
      </p:sp>
      <p:sp>
        <p:nvSpPr>
          <p:cNvPr id="19" name="Text 17"/>
          <p:cNvSpPr/>
          <p:nvPr/>
        </p:nvSpPr>
        <p:spPr>
          <a:xfrm>
            <a:off x="958283" y="458978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0" name="Shape 18"/>
          <p:cNvSpPr/>
          <p:nvPr/>
        </p:nvSpPr>
        <p:spPr>
          <a:xfrm>
            <a:off x="958283" y="5001268"/>
            <a:ext cx="231418" cy="231418"/>
          </a:xfrm>
          <a:prstGeom prst="rect">
            <a:avLst/>
          </a:prstGeom>
          <a:solidFill>
            <a:srgbClr val="DEFAEF"/>
          </a:solidFill>
          <a:ln/>
        </p:spPr>
      </p:sp>
      <p:sp>
        <p:nvSpPr>
          <p:cNvPr id="21" name="Text 19"/>
          <p:cNvSpPr/>
          <p:nvPr/>
        </p:nvSpPr>
        <p:spPr>
          <a:xfrm>
            <a:off x="958283" y="500126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2" name="Shape 20"/>
          <p:cNvSpPr/>
          <p:nvPr/>
        </p:nvSpPr>
        <p:spPr>
          <a:xfrm>
            <a:off x="958283" y="5195578"/>
            <a:ext cx="231418" cy="231418"/>
          </a:xfrm>
          <a:prstGeom prst="rect">
            <a:avLst/>
          </a:prstGeom>
          <a:solidFill>
            <a:srgbClr val="E2FAF1"/>
          </a:solidFill>
          <a:ln/>
        </p:spPr>
      </p:sp>
      <p:sp>
        <p:nvSpPr>
          <p:cNvPr id="23" name="Text 21"/>
          <p:cNvSpPr/>
          <p:nvPr/>
        </p:nvSpPr>
        <p:spPr>
          <a:xfrm>
            <a:off x="958283" y="51955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4" name="Shape 22"/>
          <p:cNvSpPr/>
          <p:nvPr/>
        </p:nvSpPr>
        <p:spPr>
          <a:xfrm>
            <a:off x="958283" y="5424178"/>
            <a:ext cx="231418" cy="231418"/>
          </a:xfrm>
          <a:prstGeom prst="rect">
            <a:avLst/>
          </a:prstGeom>
          <a:solidFill>
            <a:srgbClr val="EBFDF5"/>
          </a:solidFill>
          <a:ln/>
        </p:spPr>
      </p:sp>
      <p:sp>
        <p:nvSpPr>
          <p:cNvPr id="25" name="Text 23"/>
          <p:cNvSpPr/>
          <p:nvPr/>
        </p:nvSpPr>
        <p:spPr>
          <a:xfrm>
            <a:off x="958283" y="542417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6" name="Shape 24"/>
          <p:cNvSpPr/>
          <p:nvPr/>
        </p:nvSpPr>
        <p:spPr>
          <a:xfrm>
            <a:off x="958283" y="5641348"/>
            <a:ext cx="231418" cy="231418"/>
          </a:xfrm>
          <a:prstGeom prst="rect">
            <a:avLst/>
          </a:prstGeom>
          <a:solidFill>
            <a:srgbClr val="F1FEF8"/>
          </a:solidFill>
          <a:ln/>
        </p:spPr>
      </p:sp>
      <p:sp>
        <p:nvSpPr>
          <p:cNvPr id="27" name="Text 25"/>
          <p:cNvSpPr/>
          <p:nvPr/>
        </p:nvSpPr>
        <p:spPr>
          <a:xfrm>
            <a:off x="958283" y="564134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28" name="Shape 26"/>
          <p:cNvSpPr/>
          <p:nvPr/>
        </p:nvSpPr>
        <p:spPr>
          <a:xfrm>
            <a:off x="958283" y="5858518"/>
            <a:ext cx="231418" cy="231418"/>
          </a:xfrm>
          <a:prstGeom prst="rect">
            <a:avLst/>
          </a:prstGeom>
          <a:solidFill>
            <a:srgbClr val="F7FFFB"/>
          </a:solidFill>
          <a:ln/>
        </p:spPr>
      </p:sp>
      <p:sp>
        <p:nvSpPr>
          <p:cNvPr id="29" name="Text 27"/>
          <p:cNvSpPr/>
          <p:nvPr/>
        </p:nvSpPr>
        <p:spPr>
          <a:xfrm>
            <a:off x="958283" y="5858518"/>
            <a:ext cx="231418" cy="231418"/>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p:cNvSpPr/>
          <p:nvPr/>
        </p:nvSpPr>
        <p:spPr>
          <a:xfrm>
            <a:off x="958283" y="3299530"/>
            <a:ext cx="231418" cy="231418"/>
          </a:xfrm>
          <a:prstGeom prst="rect">
            <a:avLst/>
          </a:prstGeom>
          <a:solidFill>
            <a:srgbClr val="9DB4E0"/>
          </a:solidFill>
          <a:ln/>
        </p:spPr>
      </p:sp>
      <p:sp>
        <p:nvSpPr>
          <p:cNvPr id="31" name="Text 29"/>
          <p:cNvSpPr/>
          <p:nvPr/>
        </p:nvSpPr>
        <p:spPr>
          <a:xfrm>
            <a:off x="958283" y="3299530"/>
            <a:ext cx="231418" cy="231418"/>
          </a:xfrm>
          <a:prstGeom prst="rect">
            <a:avLst/>
          </a:prstGeom>
          <a:noFill/>
          <a:ln/>
        </p:spPr>
        <p:txBody>
          <a:bodyPr wrap="square" lIns="45720" tIns="91440" rIns="91440" bIns="45720" rtlCol="0" anchor="ctr"/>
          <a:lstStyle/>
          <a:p>
            <a:pPr>
              <a:lnSpc>
                <a:spcPct val="100000"/>
              </a:lnSpc>
            </a:pPr>
            <a:endParaRPr lang="en-US" sz="1600" dirty="0"/>
          </a:p>
        </p:txBody>
      </p:sp>
      <p:pic>
        <p:nvPicPr>
          <p:cNvPr id="32" name="Image 0" descr="https://kimi-img.moonshot.cn/pub/slides/slides_tmpl/image/25-08-27-20:09:03-d2nfanp8bjvh7rlj0i2g.png"/>
          <p:cNvPicPr>
            <a:picLocks noChangeAspect="1"/>
          </p:cNvPicPr>
          <p:nvPr/>
        </p:nvPicPr>
        <p:blipFill>
          <a:blip r:embed="rId3"/>
          <a:stretch>
            <a:fillRect/>
          </a:stretch>
        </p:blipFill>
        <p:spPr>
          <a:xfrm>
            <a:off x="4651601" y="365720"/>
            <a:ext cx="6438900" cy="5943600"/>
          </a:xfrm>
          <a:prstGeom prst="rect">
            <a:avLst/>
          </a:prstGeom>
        </p:spPr>
      </p:pic>
      <p:pic>
        <p:nvPicPr>
          <p:cNvPr id="33" name="Image 1" descr="https://kimi-img.moonshot.cn/pub/slides/slides_tmpl/image/25-08-27-20:09:03-d2nfanp8bjvh7rlj0i00.png"/>
          <p:cNvPicPr>
            <a:picLocks noChangeAspect="1"/>
          </p:cNvPicPr>
          <p:nvPr/>
        </p:nvPicPr>
        <p:blipFill>
          <a:blip r:embed="rId4"/>
          <a:srcRect b="95767"/>
          <a:stretch/>
        </p:blipFill>
        <p:spPr>
          <a:xfrm>
            <a:off x="263525" y="741045"/>
            <a:ext cx="3962400" cy="95696"/>
          </a:xfrm>
          <a:prstGeom prst="rect">
            <a:avLst/>
          </a:prstGeom>
        </p:spPr>
      </p:pic>
      <p:sp>
        <p:nvSpPr>
          <p:cNvPr id="34" name="Text 30"/>
          <p:cNvSpPr/>
          <p:nvPr/>
        </p:nvSpPr>
        <p:spPr>
          <a:xfrm>
            <a:off x="954405" y="993775"/>
            <a:ext cx="4064000" cy="812800"/>
          </a:xfrm>
          <a:prstGeom prst="rect">
            <a:avLst/>
          </a:prstGeom>
          <a:noFill/>
          <a:ln/>
        </p:spPr>
        <p:txBody>
          <a:bodyPr wrap="square" lIns="91440" tIns="45720" rIns="91440" bIns="45720" rtlCol="0" anchor="t">
            <a:spAutoFit/>
          </a:bodyPr>
          <a:lstStyle/>
          <a:p>
            <a:pPr>
              <a:lnSpc>
                <a:spcPct val="100000"/>
              </a:lnSpc>
            </a:pPr>
            <a:r>
              <a:rPr lang="en-US" sz="4800" b="1" dirty="0">
                <a:solidFill>
                  <a:srgbClr val="000000"/>
                </a:solidFill>
                <a:latin typeface="Source Han Sans SC" pitchFamily="34" charset="0"/>
                <a:ea typeface="Source Han Sans SC" pitchFamily="34" charset="-122"/>
                <a:cs typeface="Source Han Sans SC" pitchFamily="34" charset="-120"/>
              </a:rPr>
              <a:t>CONTENTS</a:t>
            </a:r>
            <a:endParaRPr lang="en-US" sz="1600" dirty="0"/>
          </a:p>
        </p:txBody>
      </p:sp>
      <p:sp>
        <p:nvSpPr>
          <p:cNvPr id="35" name="Text 31"/>
          <p:cNvSpPr/>
          <p:nvPr/>
        </p:nvSpPr>
        <p:spPr>
          <a:xfrm>
            <a:off x="5046503" y="1796007"/>
            <a:ext cx="2994499"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Foundations of Databases</a:t>
            </a:r>
            <a:endParaRPr lang="en-US" sz="1600" dirty="0"/>
          </a:p>
        </p:txBody>
      </p:sp>
      <p:sp>
        <p:nvSpPr>
          <p:cNvPr id="36" name="Text 32"/>
          <p:cNvSpPr/>
          <p:nvPr/>
        </p:nvSpPr>
        <p:spPr>
          <a:xfrm>
            <a:off x="8475503" y="1796007"/>
            <a:ext cx="2994499"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Data Modeling &amp; ER Diagrams</a:t>
            </a:r>
            <a:endParaRPr lang="en-US" sz="1600" dirty="0"/>
          </a:p>
        </p:txBody>
      </p:sp>
      <p:sp>
        <p:nvSpPr>
          <p:cNvPr id="37" name="Text 33"/>
          <p:cNvSpPr/>
          <p:nvPr/>
        </p:nvSpPr>
        <p:spPr>
          <a:xfrm>
            <a:off x="5471071" y="3849940"/>
            <a:ext cx="2566966" cy="56713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Normalization Techniques</a:t>
            </a:r>
            <a:endParaRPr lang="en-US" sz="1600" dirty="0"/>
          </a:p>
        </p:txBody>
      </p:sp>
      <p:sp>
        <p:nvSpPr>
          <p:cNvPr id="38" name="Text 34"/>
          <p:cNvSpPr/>
          <p:nvPr/>
        </p:nvSpPr>
        <p:spPr>
          <a:xfrm>
            <a:off x="8765604" y="3854987"/>
            <a:ext cx="2994499"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From Diagram to Schema</a:t>
            </a:r>
            <a:endParaRPr lang="en-US" sz="1600" dirty="0"/>
          </a:p>
        </p:txBody>
      </p:sp>
      <p:sp>
        <p:nvSpPr>
          <p:cNvPr id="39" name="Text 35"/>
          <p:cNvSpPr/>
          <p:nvPr/>
        </p:nvSpPr>
        <p:spPr>
          <a:xfrm>
            <a:off x="5143871" y="6086695"/>
            <a:ext cx="2778475"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Design Best Practices</a:t>
            </a:r>
            <a:endParaRPr lang="en-US" sz="1600" dirty="0"/>
          </a:p>
        </p:txBody>
      </p:sp>
      <p:sp>
        <p:nvSpPr>
          <p:cNvPr id="40" name="Text 36"/>
          <p:cNvSpPr/>
          <p:nvPr/>
        </p:nvSpPr>
        <p:spPr>
          <a:xfrm>
            <a:off x="8572871" y="6082269"/>
            <a:ext cx="2566967" cy="270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pitchFamily="34" charset="0"/>
                <a:ea typeface="Source Han Sans SC" pitchFamily="34" charset="-122"/>
                <a:cs typeface="Source Han Sans SC" pitchFamily="34" charset="-120"/>
              </a:rPr>
              <a:t>Wrap-Up &amp; Next Steps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Foundations of Databases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212976"/>
            <a:ext cx="12192000" cy="3645024"/>
          </a:xfrm>
          <a:prstGeom prst="rect">
            <a:avLst/>
          </a:prstGeom>
          <a:solidFill>
            <a:srgbClr val="F2F3F6"/>
          </a:solidFill>
          <a:ln/>
        </p:spPr>
      </p:sp>
      <p:sp>
        <p:nvSpPr>
          <p:cNvPr id="3" name="Text 1"/>
          <p:cNvSpPr/>
          <p:nvPr/>
        </p:nvSpPr>
        <p:spPr>
          <a:xfrm>
            <a:off x="0" y="3212976"/>
            <a:ext cx="12192000" cy="3645024"/>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4231221"/>
            <a:ext cx="911424" cy="637939"/>
          </a:xfrm>
          <a:prstGeom prst="rect">
            <a:avLst/>
          </a:prstGeom>
          <a:solidFill>
            <a:srgbClr val="9DB4E0"/>
          </a:solidFill>
          <a:ln/>
        </p:spPr>
      </p:sp>
      <p:sp>
        <p:nvSpPr>
          <p:cNvPr id="5" name="Text 3"/>
          <p:cNvSpPr/>
          <p:nvPr/>
        </p:nvSpPr>
        <p:spPr>
          <a:xfrm>
            <a:off x="0" y="4231221"/>
            <a:ext cx="911424" cy="637939"/>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0908342" y="5594566"/>
            <a:ext cx="802312" cy="475550"/>
          </a:xfrm>
          <a:prstGeom prst="rect">
            <a:avLst/>
          </a:prstGeom>
          <a:solidFill>
            <a:srgbClr val="9DB4E0"/>
          </a:solidFill>
          <a:ln/>
        </p:spPr>
      </p:sp>
      <p:sp>
        <p:nvSpPr>
          <p:cNvPr id="7" name="Text 5"/>
          <p:cNvSpPr/>
          <p:nvPr/>
        </p:nvSpPr>
        <p:spPr>
          <a:xfrm>
            <a:off x="10908342" y="5594566"/>
            <a:ext cx="802312" cy="475550"/>
          </a:xfrm>
          <a:prstGeom prst="rect">
            <a:avLst/>
          </a:prstGeom>
          <a:noFill/>
          <a:ln/>
        </p:spPr>
        <p:txBody>
          <a:bodyPr wrap="square" lIns="45720" tIns="91440" rIns="91440" bIns="45720" rtlCol="0" anchor="ctr"/>
          <a:lstStyle/>
          <a:p>
            <a:pPr>
              <a:lnSpc>
                <a:spcPct val="100000"/>
              </a:lnSpc>
            </a:pPr>
            <a:endParaRPr lang="en-US" sz="1600" dirty="0"/>
          </a:p>
        </p:txBody>
      </p:sp>
      <p:sp>
        <p:nvSpPr>
          <p:cNvPr id="8" name="Text 6"/>
          <p:cNvSpPr/>
          <p:nvPr/>
        </p:nvSpPr>
        <p:spPr>
          <a:xfrm>
            <a:off x="505460" y="713740"/>
            <a:ext cx="6583045" cy="611584"/>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What is a Database?</a:t>
            </a:r>
            <a:endParaRPr lang="en-US" sz="1600" dirty="0"/>
          </a:p>
        </p:txBody>
      </p:sp>
      <p:pic>
        <p:nvPicPr>
          <p:cNvPr id="9" name="Image 0" descr="https://kimi-img.moonshot.cn/pub/slides/slides_tmpl/image/25-08-27-20:09:10-d2nfaph8bjvh7rlj0iig.png"/>
          <p:cNvPicPr>
            <a:picLocks noChangeAspect="1"/>
          </p:cNvPicPr>
          <p:nvPr/>
        </p:nvPicPr>
        <p:blipFill>
          <a:blip r:embed="rId3"/>
          <a:srcRect l="127" r="127"/>
          <a:stretch/>
        </p:blipFill>
        <p:spPr>
          <a:xfrm>
            <a:off x="4254348" y="1660800"/>
            <a:ext cx="3802640" cy="4841652"/>
          </a:xfrm>
          <a:prstGeom prst="rect">
            <a:avLst/>
          </a:prstGeom>
        </p:spPr>
      </p:pic>
      <p:sp>
        <p:nvSpPr>
          <p:cNvPr id="10" name="Text 7"/>
          <p:cNvSpPr/>
          <p:nvPr/>
        </p:nvSpPr>
        <p:spPr>
          <a:xfrm>
            <a:off x="391160" y="3639971"/>
            <a:ext cx="3904615" cy="564515"/>
          </a:xfrm>
          <a:prstGeom prst="rect">
            <a:avLst/>
          </a:prstGeom>
          <a:noFill/>
          <a:ln/>
        </p:spPr>
        <p:txBody>
          <a:bodyPr wrap="square" lIns="91440" tIns="45720" rIns="91440" bIns="45720" rtlCol="0" anchor="b"/>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Definition of a Database</a:t>
            </a:r>
            <a:endParaRPr lang="en-US" sz="1600" dirty="0"/>
          </a:p>
        </p:txBody>
      </p:sp>
      <p:sp>
        <p:nvSpPr>
          <p:cNvPr id="11" name="Text 8"/>
          <p:cNvSpPr/>
          <p:nvPr/>
        </p:nvSpPr>
        <p:spPr>
          <a:xfrm>
            <a:off x="391160" y="4231221"/>
            <a:ext cx="3627120" cy="234513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A database is a structured collection of data stored electronically. It allows for efficient storage, retrieval, and management of information. Databases are essential for organizing data in a way that supports various applications and systems.</a:t>
            </a:r>
            <a:endParaRPr lang="en-US" sz="1600" dirty="0"/>
          </a:p>
        </p:txBody>
      </p:sp>
      <p:sp>
        <p:nvSpPr>
          <p:cNvPr id="12" name="Text 9"/>
          <p:cNvSpPr/>
          <p:nvPr/>
        </p:nvSpPr>
        <p:spPr>
          <a:xfrm>
            <a:off x="7000240" y="1004570"/>
            <a:ext cx="4710430" cy="475615"/>
          </a:xfrm>
          <a:prstGeom prst="rect">
            <a:avLst/>
          </a:prstGeom>
          <a:noFill/>
          <a:ln/>
        </p:spPr>
        <p:txBody>
          <a:bodyPr wrap="square" lIns="91440" tIns="45720" rIns="91440" bIns="45720" rtlCol="0" anchor="b"/>
          <a:lstStyle/>
          <a:p>
            <a:pPr algn="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Purpose of Databases</a:t>
            </a:r>
            <a:endParaRPr lang="en-US" sz="1600" dirty="0"/>
          </a:p>
        </p:txBody>
      </p:sp>
      <p:sp>
        <p:nvSpPr>
          <p:cNvPr id="13" name="Text 10"/>
          <p:cNvSpPr/>
          <p:nvPr/>
        </p:nvSpPr>
        <p:spPr>
          <a:xfrm>
            <a:off x="8066844" y="1475294"/>
            <a:ext cx="3643810"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The primary purpose of a database is to ensure data integrity, facilitate quick data retrieval, and support complex queries. It provides a reliable way to store data and ensures that it can be accessed and manipulated efficiently.</a:t>
            </a:r>
            <a:endParaRPr lang="en-US" sz="1600" dirty="0"/>
          </a:p>
        </p:txBody>
      </p:sp>
      <p:sp>
        <p:nvSpPr>
          <p:cNvPr id="14" name="Text 11"/>
          <p:cNvSpPr/>
          <p:nvPr/>
        </p:nvSpPr>
        <p:spPr>
          <a:xfrm>
            <a:off x="8326120" y="3621556"/>
            <a:ext cx="3522980" cy="511175"/>
          </a:xfrm>
          <a:prstGeom prst="rect">
            <a:avLst/>
          </a:prstGeom>
          <a:noFill/>
          <a:ln/>
        </p:spPr>
        <p:txBody>
          <a:bodyPr wrap="square" lIns="91440" tIns="45720" rIns="91440" bIns="45720" rtlCol="0" anchor="b"/>
          <a:lstStyle/>
          <a:p>
            <a:pPr>
              <a:lnSpc>
                <a:spcPct val="100000"/>
              </a:lnSpc>
            </a:pPr>
            <a:r>
              <a:rPr lang="en-US" sz="2000" dirty="0">
                <a:solidFill>
                  <a:srgbClr val="000000"/>
                </a:solidFill>
                <a:latin typeface="Source Han Sans SC" pitchFamily="34" charset="0"/>
                <a:ea typeface="Source Han Sans SC" pitchFamily="34" charset="-122"/>
                <a:cs typeface="Source Han Sans SC" pitchFamily="34" charset="-120"/>
              </a:rPr>
              <a:t>Types of Databases</a:t>
            </a:r>
            <a:endParaRPr lang="en-US" sz="1600" dirty="0"/>
          </a:p>
        </p:txBody>
      </p:sp>
      <p:sp>
        <p:nvSpPr>
          <p:cNvPr id="15" name="Text 12"/>
          <p:cNvSpPr/>
          <p:nvPr/>
        </p:nvSpPr>
        <p:spPr>
          <a:xfrm>
            <a:off x="8386047" y="4231221"/>
            <a:ext cx="3324607" cy="2345134"/>
          </a:xfrm>
          <a:prstGeom prst="rect">
            <a:avLst/>
          </a:prstGeom>
          <a:noFill/>
          <a:ln/>
        </p:spPr>
        <p:txBody>
          <a:bodyPr wrap="square" lIns="91440" tIns="45720" rIns="91440" bIns="45720" rtlCol="0" anchor="t">
            <a:spAutoFit/>
          </a:bodyPr>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There are two main types of databases: relational and NoSQL. Relational databases, like MySQL and PostgreSQL, use tables to store data. NoSQL databases, such as MongoDB and Cassandra, offer more flexible data storage options.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161616"/>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67105" y="5513705"/>
            <a:ext cx="7889240" cy="1122045"/>
          </a:xfrm>
          <a:prstGeom prst="rect">
            <a:avLst/>
          </a:prstGeom>
          <a:noFill/>
          <a:ln/>
        </p:spPr>
        <p:txBody>
          <a:bodyPr wrap="square" lIns="91440" tIns="45720" rIns="91440" bIns="45720" rtlCol="0" anchor="ctr"/>
          <a:lstStyle/>
          <a:p>
            <a:pPr>
              <a:lnSpc>
                <a:spcPct val="100000"/>
              </a:lnSpc>
            </a:pPr>
            <a:r>
              <a:rPr lang="en-US" sz="4000" dirty="0">
                <a:solidFill>
                  <a:srgbClr val="FFFFFF"/>
                </a:solidFill>
                <a:latin typeface="Source Han Sans SC" pitchFamily="34" charset="0"/>
                <a:ea typeface="Source Han Sans SC" pitchFamily="34" charset="-122"/>
                <a:cs typeface="Source Han Sans SC" pitchFamily="34" charset="-120"/>
              </a:rPr>
              <a:t>Relational Database Essentials</a:t>
            </a:r>
            <a:endParaRPr lang="en-US" sz="1600" dirty="0"/>
          </a:p>
        </p:txBody>
      </p:sp>
      <p:pic>
        <p:nvPicPr>
          <p:cNvPr id="5" name="Image 0" descr="https://kimi-img.moonshot.cn/pub/slides/slides_tmpl/image/25-08-27-20:09:08-d2nfap18bjvh7rlj0ic0.jpg"/>
          <p:cNvPicPr>
            <a:picLocks noChangeAspect="1"/>
          </p:cNvPicPr>
          <p:nvPr/>
        </p:nvPicPr>
        <p:blipFill>
          <a:blip r:embed="rId3"/>
          <a:stretch>
            <a:fillRect/>
          </a:stretch>
        </p:blipFill>
        <p:spPr>
          <a:xfrm>
            <a:off x="1055913" y="1053031"/>
            <a:ext cx="3472004" cy="3151189"/>
          </a:xfrm>
          <a:prstGeom prst="rect">
            <a:avLst/>
          </a:prstGeom>
        </p:spPr>
      </p:pic>
      <p:pic>
        <p:nvPicPr>
          <p:cNvPr id="6" name="Image 1" descr="https://kimi-img.moonshot.cn/pub/slides/slides_tmpl/image/25-08-27-20:09:08-d2nfap18bjvh7rlj0iag.png"/>
          <p:cNvPicPr>
            <a:picLocks noChangeAspect="1"/>
          </p:cNvPicPr>
          <p:nvPr/>
        </p:nvPicPr>
        <p:blipFill>
          <a:blip r:embed="rId4"/>
          <a:stretch>
            <a:fillRect/>
          </a:stretch>
        </p:blipFill>
        <p:spPr>
          <a:xfrm>
            <a:off x="4686300" y="529590"/>
            <a:ext cx="1064260" cy="941070"/>
          </a:xfrm>
          <a:prstGeom prst="rect">
            <a:avLst/>
          </a:prstGeom>
        </p:spPr>
      </p:pic>
      <p:pic>
        <p:nvPicPr>
          <p:cNvPr id="7" name="Image 2" descr="https://kimi-img.moonshot.cn/pub/slides/slides_tmpl/image/25-08-27-20:09:08-d2nfap18bjvh7rlj0ibg.png"/>
          <p:cNvPicPr>
            <a:picLocks noChangeAspect="1"/>
          </p:cNvPicPr>
          <p:nvPr/>
        </p:nvPicPr>
        <p:blipFill>
          <a:blip r:embed="rId5"/>
          <a:stretch>
            <a:fillRect/>
          </a:stretch>
        </p:blipFill>
        <p:spPr>
          <a:xfrm>
            <a:off x="4686300" y="2661920"/>
            <a:ext cx="1064260" cy="941070"/>
          </a:xfrm>
          <a:prstGeom prst="rect">
            <a:avLst/>
          </a:prstGeom>
        </p:spPr>
      </p:pic>
      <p:sp>
        <p:nvSpPr>
          <p:cNvPr id="8" name="Text 3"/>
          <p:cNvSpPr/>
          <p:nvPr/>
        </p:nvSpPr>
        <p:spPr>
          <a:xfrm>
            <a:off x="4799856" y="1185108"/>
            <a:ext cx="6482735" cy="402034"/>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Structure of Relational Databases</a:t>
            </a:r>
            <a:endParaRPr lang="en-US" sz="1600" dirty="0"/>
          </a:p>
        </p:txBody>
      </p:sp>
      <p:sp>
        <p:nvSpPr>
          <p:cNvPr id="9" name="Text 4"/>
          <p:cNvSpPr/>
          <p:nvPr/>
        </p:nvSpPr>
        <p:spPr>
          <a:xfrm>
            <a:off x="4799965" y="1590040"/>
            <a:ext cx="6997065" cy="863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Relational databases store data in tables, which consist of rows (records) and columns (fields). Each table represents a specific entity, and relationships between tables are established through keys.</a:t>
            </a:r>
            <a:endParaRPr lang="en-US" sz="1600" dirty="0"/>
          </a:p>
        </p:txBody>
      </p:sp>
      <p:sp>
        <p:nvSpPr>
          <p:cNvPr id="10" name="Text 5"/>
          <p:cNvSpPr/>
          <p:nvPr/>
        </p:nvSpPr>
        <p:spPr>
          <a:xfrm>
            <a:off x="4799855" y="3292048"/>
            <a:ext cx="6482735" cy="402034"/>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Key Concepts</a:t>
            </a:r>
            <a:endParaRPr lang="en-US" sz="1600" dirty="0"/>
          </a:p>
        </p:txBody>
      </p:sp>
      <p:sp>
        <p:nvSpPr>
          <p:cNvPr id="11" name="Text 6"/>
          <p:cNvSpPr/>
          <p:nvPr/>
        </p:nvSpPr>
        <p:spPr>
          <a:xfrm>
            <a:off x="4799965" y="3696970"/>
            <a:ext cx="6996430" cy="863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Primary keys uniquely identify each row in a table. Foreign keys link tables together, ensuring referential integrity. These keys help maintain data consistency and integrity across the database.</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Data Modeling &amp; ER Diagrams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635" cy="6858000"/>
          </a:xfrm>
          <a:prstGeom prst="rect">
            <a:avLst/>
          </a:prstGeom>
          <a:solidFill>
            <a:srgbClr val="0D0D0D"/>
          </a:solidFill>
          <a:ln/>
        </p:spPr>
      </p:sp>
      <p:sp>
        <p:nvSpPr>
          <p:cNvPr id="3" name="Text 1"/>
          <p:cNvSpPr/>
          <p:nvPr/>
        </p:nvSpPr>
        <p:spPr>
          <a:xfrm>
            <a:off x="0" y="0"/>
            <a:ext cx="12192635"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3215680" y="1182980"/>
            <a:ext cx="1584176" cy="3060160"/>
          </a:xfrm>
          <a:custGeom>
            <a:avLst/>
            <a:gdLst/>
            <a:ahLst/>
            <a:cxnLst/>
            <a:rect l="l" t="t" r="r" b="b"/>
            <a:pathLst>
              <a:path w="1584176" h="3060160">
                <a:moveTo>
                  <a:pt x="0" y="0"/>
                </a:moveTo>
                <a:lnTo>
                  <a:pt x="1584176" y="0"/>
                </a:lnTo>
                <a:lnTo>
                  <a:pt x="1584176" y="115069"/>
                </a:lnTo>
                <a:lnTo>
                  <a:pt x="1584176" y="249136"/>
                </a:lnTo>
                <a:lnTo>
                  <a:pt x="1584176" y="3060160"/>
                </a:lnTo>
                <a:lnTo>
                  <a:pt x="1160548" y="3060160"/>
                </a:lnTo>
                <a:lnTo>
                  <a:pt x="1160548" y="249136"/>
                </a:lnTo>
                <a:lnTo>
                  <a:pt x="0" y="249136"/>
                </a:lnTo>
                <a:close/>
              </a:path>
            </a:pathLst>
          </a:custGeom>
          <a:gradFill flip="none" rotWithShape="1">
            <a:gsLst>
              <a:gs pos="0">
                <a:srgbClr val="3A4F72"/>
              </a:gs>
              <a:gs pos="67000">
                <a:srgbClr val="7EA2AA"/>
              </a:gs>
              <a:gs pos="100000">
                <a:srgbClr val="C2F5E1"/>
              </a:gs>
            </a:gsLst>
            <a:lin ang="5400000" scaled="1"/>
          </a:gradFill>
          <a:ln/>
        </p:spPr>
      </p:sp>
      <p:sp>
        <p:nvSpPr>
          <p:cNvPr id="5" name="Text 3"/>
          <p:cNvSpPr/>
          <p:nvPr/>
        </p:nvSpPr>
        <p:spPr>
          <a:xfrm>
            <a:off x="3215680" y="1182980"/>
            <a:ext cx="1584176" cy="306016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623392" y="4659597"/>
            <a:ext cx="4425189" cy="1280517"/>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Concepts of Data Modeling</a:t>
            </a:r>
            <a:endParaRPr lang="en-US" sz="1600" dirty="0"/>
          </a:p>
        </p:txBody>
      </p:sp>
      <p:sp>
        <p:nvSpPr>
          <p:cNvPr id="7" name="Shape 5"/>
          <p:cNvSpPr/>
          <p:nvPr/>
        </p:nvSpPr>
        <p:spPr>
          <a:xfrm>
            <a:off x="8544272" y="843214"/>
            <a:ext cx="252602" cy="252616"/>
          </a:xfrm>
          <a:prstGeom prst="ellipse">
            <a:avLst/>
          </a:prstGeom>
          <a:solidFill>
            <a:srgbClr val="000000">
              <a:alpha val="0"/>
            </a:srgbClr>
          </a:solidFill>
          <a:ln w="76200">
            <a:solidFill>
              <a:srgbClr val="B5C7E7"/>
            </a:solidFill>
            <a:prstDash val="solid"/>
          </a:ln>
        </p:spPr>
      </p:sp>
      <p:sp>
        <p:nvSpPr>
          <p:cNvPr id="8" name="Text 6"/>
          <p:cNvSpPr/>
          <p:nvPr/>
        </p:nvSpPr>
        <p:spPr>
          <a:xfrm>
            <a:off x="8544272" y="843214"/>
            <a:ext cx="252602" cy="252616"/>
          </a:xfrm>
          <a:prstGeom prst="rect">
            <a:avLst/>
          </a:prstGeom>
          <a:noFill/>
          <a:ln/>
        </p:spPr>
        <p:txBody>
          <a:bodyPr wrap="square" lIns="0" tIns="0" rIns="0" bIns="0" rtlCol="0" anchor="ctr"/>
          <a:lstStyle/>
          <a:p>
            <a:pPr>
              <a:lnSpc>
                <a:spcPct val="100000"/>
              </a:lnSpc>
            </a:pPr>
            <a:endParaRPr lang="en-US" sz="1600" dirty="0"/>
          </a:p>
        </p:txBody>
      </p:sp>
      <p:pic>
        <p:nvPicPr>
          <p:cNvPr id="9" name="Image 0" descr="https://kimi-img.moonshot.cn/pub/slides/slides_tmpl/image/25-08-27-20:09:12-d2nfaq18bjvh7rlj0ip0.jpg"/>
          <p:cNvPicPr>
            <a:picLocks noChangeAspect="1"/>
          </p:cNvPicPr>
          <p:nvPr/>
        </p:nvPicPr>
        <p:blipFill>
          <a:blip r:embed="rId3"/>
          <a:stretch>
            <a:fillRect/>
          </a:stretch>
        </p:blipFill>
        <p:spPr>
          <a:xfrm>
            <a:off x="688636" y="1429732"/>
            <a:ext cx="1812087" cy="1180827"/>
          </a:xfrm>
          <a:prstGeom prst="rect">
            <a:avLst/>
          </a:prstGeom>
        </p:spPr>
      </p:pic>
      <p:pic>
        <p:nvPicPr>
          <p:cNvPr id="10" name="Image 1" descr="https://kimi-img.moonshot.cn/pub/slides/slides_tmpl/image/25-08-27-20:09:12-d2nfaq18bjvh7rlj0ipg.jpg"/>
          <p:cNvPicPr>
            <a:picLocks noChangeAspect="1"/>
          </p:cNvPicPr>
          <p:nvPr/>
        </p:nvPicPr>
        <p:blipFill>
          <a:blip r:embed="rId4"/>
          <a:stretch>
            <a:fillRect/>
          </a:stretch>
        </p:blipFill>
        <p:spPr>
          <a:xfrm>
            <a:off x="2699736" y="1418626"/>
            <a:ext cx="1812088" cy="1177204"/>
          </a:xfrm>
          <a:prstGeom prst="rect">
            <a:avLst/>
          </a:prstGeom>
        </p:spPr>
      </p:pic>
      <p:pic>
        <p:nvPicPr>
          <p:cNvPr id="11" name="Image 2" descr="https://kimi-img.moonshot.cn/pub/slides/slides_tmpl/image/25-08-27-20:09:12-d2nfaq18bjvh7rlj0iq0.jpg"/>
          <p:cNvPicPr>
            <a:picLocks noChangeAspect="1"/>
          </p:cNvPicPr>
          <p:nvPr/>
        </p:nvPicPr>
        <p:blipFill>
          <a:blip r:embed="rId5"/>
          <a:srcRect/>
          <a:stretch/>
        </p:blipFill>
        <p:spPr>
          <a:xfrm>
            <a:off x="682895" y="2889263"/>
            <a:ext cx="3828929" cy="1353877"/>
          </a:xfrm>
          <a:prstGeom prst="rect">
            <a:avLst/>
          </a:prstGeom>
        </p:spPr>
      </p:pic>
      <p:sp>
        <p:nvSpPr>
          <p:cNvPr id="12" name="Shape 7"/>
          <p:cNvSpPr/>
          <p:nvPr/>
        </p:nvSpPr>
        <p:spPr>
          <a:xfrm>
            <a:off x="682895" y="3843470"/>
            <a:ext cx="423820" cy="399670"/>
          </a:xfrm>
          <a:prstGeom prst="rect">
            <a:avLst/>
          </a:prstGeom>
          <a:solidFill>
            <a:srgbClr val="9DB4E0"/>
          </a:solidFill>
          <a:ln/>
        </p:spPr>
      </p:sp>
      <p:sp>
        <p:nvSpPr>
          <p:cNvPr id="13" name="Text 8"/>
          <p:cNvSpPr/>
          <p:nvPr/>
        </p:nvSpPr>
        <p:spPr>
          <a:xfrm>
            <a:off x="682895" y="3843470"/>
            <a:ext cx="423820" cy="39967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9"/>
          <p:cNvSpPr/>
          <p:nvPr/>
        </p:nvSpPr>
        <p:spPr>
          <a:xfrm>
            <a:off x="8544272" y="3804009"/>
            <a:ext cx="252602" cy="252616"/>
          </a:xfrm>
          <a:prstGeom prst="ellipse">
            <a:avLst/>
          </a:prstGeom>
          <a:solidFill>
            <a:srgbClr val="000000">
              <a:alpha val="0"/>
            </a:srgbClr>
          </a:solidFill>
          <a:ln w="76200">
            <a:solidFill>
              <a:srgbClr val="B5C7E7"/>
            </a:solidFill>
            <a:prstDash val="solid"/>
          </a:ln>
        </p:spPr>
      </p:sp>
      <p:sp>
        <p:nvSpPr>
          <p:cNvPr id="15" name="Text 10"/>
          <p:cNvSpPr/>
          <p:nvPr/>
        </p:nvSpPr>
        <p:spPr>
          <a:xfrm>
            <a:off x="8544272" y="3804009"/>
            <a:ext cx="252602" cy="252616"/>
          </a:xfrm>
          <a:prstGeom prst="rect">
            <a:avLst/>
          </a:prstGeom>
          <a:noFill/>
          <a:ln/>
        </p:spPr>
        <p:txBody>
          <a:bodyPr wrap="square" lIns="0" tIns="0" rIns="0" bIns="0" rtlCol="0" anchor="ctr"/>
          <a:lstStyle/>
          <a:p>
            <a:pPr>
              <a:lnSpc>
                <a:spcPct val="100000"/>
              </a:lnSpc>
            </a:pPr>
            <a:endParaRPr lang="en-US" sz="1600" dirty="0"/>
          </a:p>
        </p:txBody>
      </p:sp>
      <p:sp>
        <p:nvSpPr>
          <p:cNvPr id="16" name="Shape 11"/>
          <p:cNvSpPr/>
          <p:nvPr/>
        </p:nvSpPr>
        <p:spPr>
          <a:xfrm>
            <a:off x="5268637" y="843214"/>
            <a:ext cx="252602" cy="252616"/>
          </a:xfrm>
          <a:prstGeom prst="ellipse">
            <a:avLst/>
          </a:prstGeom>
          <a:solidFill>
            <a:srgbClr val="000000">
              <a:alpha val="0"/>
            </a:srgbClr>
          </a:solidFill>
          <a:ln w="76200">
            <a:solidFill>
              <a:srgbClr val="B5C7E7"/>
            </a:solidFill>
            <a:prstDash val="solid"/>
          </a:ln>
        </p:spPr>
      </p:sp>
      <p:sp>
        <p:nvSpPr>
          <p:cNvPr id="17" name="Text 12"/>
          <p:cNvSpPr/>
          <p:nvPr/>
        </p:nvSpPr>
        <p:spPr>
          <a:xfrm>
            <a:off x="5268637" y="843214"/>
            <a:ext cx="252602" cy="252616"/>
          </a:xfrm>
          <a:prstGeom prst="rect">
            <a:avLst/>
          </a:prstGeom>
          <a:noFill/>
          <a:ln/>
        </p:spPr>
        <p:txBody>
          <a:bodyPr wrap="square" lIns="0" tIns="0" rIns="0" bIns="0" rtlCol="0" anchor="ctr"/>
          <a:lstStyle/>
          <a:p>
            <a:pPr>
              <a:lnSpc>
                <a:spcPct val="100000"/>
              </a:lnSpc>
            </a:pPr>
            <a:endParaRPr lang="en-US" sz="1600" dirty="0"/>
          </a:p>
        </p:txBody>
      </p:sp>
      <p:sp>
        <p:nvSpPr>
          <p:cNvPr id="18" name="Shape 13"/>
          <p:cNvSpPr/>
          <p:nvPr/>
        </p:nvSpPr>
        <p:spPr>
          <a:xfrm>
            <a:off x="5268637" y="3799372"/>
            <a:ext cx="252602" cy="252616"/>
          </a:xfrm>
          <a:prstGeom prst="ellipse">
            <a:avLst/>
          </a:prstGeom>
          <a:solidFill>
            <a:srgbClr val="000000">
              <a:alpha val="0"/>
            </a:srgbClr>
          </a:solidFill>
          <a:ln w="76200">
            <a:solidFill>
              <a:srgbClr val="B5C7E7"/>
            </a:solidFill>
            <a:prstDash val="solid"/>
          </a:ln>
        </p:spPr>
      </p:sp>
      <p:sp>
        <p:nvSpPr>
          <p:cNvPr id="19" name="Text 14"/>
          <p:cNvSpPr/>
          <p:nvPr/>
        </p:nvSpPr>
        <p:spPr>
          <a:xfrm>
            <a:off x="5268637" y="3799372"/>
            <a:ext cx="252602" cy="252616"/>
          </a:xfrm>
          <a:prstGeom prst="rect">
            <a:avLst/>
          </a:prstGeom>
          <a:noFill/>
          <a:ln/>
        </p:spPr>
        <p:txBody>
          <a:bodyPr wrap="square" lIns="0" tIns="0" rIns="0" bIns="0" rtlCol="0" anchor="ctr"/>
          <a:lstStyle/>
          <a:p>
            <a:pPr>
              <a:lnSpc>
                <a:spcPct val="100000"/>
              </a:lnSpc>
            </a:pPr>
            <a:endParaRPr lang="en-US" sz="1600" dirty="0"/>
          </a:p>
        </p:txBody>
      </p:sp>
      <p:sp>
        <p:nvSpPr>
          <p:cNvPr id="20" name="Shape 15"/>
          <p:cNvSpPr/>
          <p:nvPr/>
        </p:nvSpPr>
        <p:spPr>
          <a:xfrm>
            <a:off x="767408" y="4066765"/>
            <a:ext cx="288032" cy="0"/>
          </a:xfrm>
          <a:prstGeom prst="straightConnector1">
            <a:avLst/>
          </a:prstGeom>
          <a:noFill/>
          <a:ln w="19050">
            <a:solidFill>
              <a:srgbClr val="000000"/>
            </a:solidFill>
            <a:prstDash val="solid"/>
            <a:headEnd type="none"/>
            <a:tailEnd type="triangle"/>
          </a:ln>
        </p:spPr>
      </p:sp>
      <p:sp>
        <p:nvSpPr>
          <p:cNvPr id="21" name="Text 16"/>
          <p:cNvSpPr/>
          <p:nvPr/>
        </p:nvSpPr>
        <p:spPr>
          <a:xfrm>
            <a:off x="5340644" y="901706"/>
            <a:ext cx="2983571" cy="713184"/>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Definition of Data Modeling</a:t>
            </a:r>
            <a:endParaRPr lang="en-US" sz="1600" dirty="0"/>
          </a:p>
        </p:txBody>
      </p:sp>
      <p:sp>
        <p:nvSpPr>
          <p:cNvPr id="22" name="Text 17"/>
          <p:cNvSpPr/>
          <p:nvPr/>
        </p:nvSpPr>
        <p:spPr>
          <a:xfrm>
            <a:off x="5340350" y="1605280"/>
            <a:ext cx="3172460" cy="2345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Data modeling is the process of defining the structure, relationships, and constraints of data. It helps in understanding how data is organized and how different entities interact with each other.</a:t>
            </a:r>
            <a:endParaRPr lang="en-US" sz="1600" dirty="0"/>
          </a:p>
        </p:txBody>
      </p:sp>
      <p:sp>
        <p:nvSpPr>
          <p:cNvPr id="23" name="Text 18"/>
          <p:cNvSpPr/>
          <p:nvPr/>
        </p:nvSpPr>
        <p:spPr>
          <a:xfrm>
            <a:off x="8616279" y="901706"/>
            <a:ext cx="2983571"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Entities and Attributes</a:t>
            </a:r>
            <a:endParaRPr lang="en-US" sz="1600" dirty="0"/>
          </a:p>
        </p:txBody>
      </p:sp>
      <p:sp>
        <p:nvSpPr>
          <p:cNvPr id="24" name="Text 19"/>
          <p:cNvSpPr/>
          <p:nvPr/>
        </p:nvSpPr>
        <p:spPr>
          <a:xfrm>
            <a:off x="8616315" y="1605280"/>
            <a:ext cx="3162300" cy="2345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Entities are objects that hold data, such as customers or products. Attributes are properties or details about entities, like names or prices. These elements form the basic building blocks of a data model.</a:t>
            </a:r>
            <a:endParaRPr lang="en-US" sz="1600" dirty="0"/>
          </a:p>
        </p:txBody>
      </p:sp>
      <p:sp>
        <p:nvSpPr>
          <p:cNvPr id="25" name="Text 20"/>
          <p:cNvSpPr/>
          <p:nvPr/>
        </p:nvSpPr>
        <p:spPr>
          <a:xfrm>
            <a:off x="5340644" y="3857864"/>
            <a:ext cx="2983571"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Relationships</a:t>
            </a:r>
            <a:endParaRPr lang="en-US" sz="1600" dirty="0"/>
          </a:p>
        </p:txBody>
      </p:sp>
      <p:sp>
        <p:nvSpPr>
          <p:cNvPr id="26" name="Text 21"/>
          <p:cNvSpPr/>
          <p:nvPr/>
        </p:nvSpPr>
        <p:spPr>
          <a:xfrm>
            <a:off x="5340350" y="4561840"/>
            <a:ext cx="3204210"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Relationships define how entities are connected. For example, a customer buys a product. These relationships are crucial for understanding the interactions between different data elements.</a:t>
            </a:r>
            <a:endParaRPr lang="en-US" sz="1600" dirty="0"/>
          </a:p>
        </p:txBody>
      </p:sp>
      <p:sp>
        <p:nvSpPr>
          <p:cNvPr id="27" name="Text 22"/>
          <p:cNvSpPr/>
          <p:nvPr/>
        </p:nvSpPr>
        <p:spPr>
          <a:xfrm>
            <a:off x="8616279" y="3862501"/>
            <a:ext cx="2983571" cy="713184"/>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Importance of Data Modeling</a:t>
            </a:r>
            <a:endParaRPr lang="en-US" sz="1600" dirty="0"/>
          </a:p>
        </p:txBody>
      </p:sp>
      <p:sp>
        <p:nvSpPr>
          <p:cNvPr id="28" name="Text 23"/>
          <p:cNvSpPr/>
          <p:nvPr/>
        </p:nvSpPr>
        <p:spPr>
          <a:xfrm>
            <a:off x="8616315" y="4566285"/>
            <a:ext cx="3131820"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Effective data modeling ensures that the database design is logical and efficient. It helps in identifying redundant data and optimizing the database for performance and scalability.</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161616"/>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4-d2nfao18bjvh7rlj0i4g.jpeg"/>
          <p:cNvPicPr>
            <a:picLocks noChangeAspect="1"/>
          </p:cNvPicPr>
          <p:nvPr/>
        </p:nvPicPr>
        <p:blipFill>
          <a:blip r:embed="rId3"/>
          <a:stretch>
            <a:fillRect/>
          </a:stretch>
        </p:blipFill>
        <p:spPr>
          <a:xfrm>
            <a:off x="4943872" y="1341096"/>
            <a:ext cx="2222754" cy="2762257"/>
          </a:xfrm>
          <a:prstGeom prst="rect">
            <a:avLst/>
          </a:prstGeom>
        </p:spPr>
      </p:pic>
      <p:sp>
        <p:nvSpPr>
          <p:cNvPr id="5" name="Text 2"/>
          <p:cNvSpPr/>
          <p:nvPr/>
        </p:nvSpPr>
        <p:spPr>
          <a:xfrm>
            <a:off x="263525" y="481330"/>
            <a:ext cx="8728075" cy="742950"/>
          </a:xfrm>
          <a:prstGeom prst="rect">
            <a:avLst/>
          </a:prstGeom>
          <a:noFill/>
          <a:ln/>
        </p:spPr>
        <p:txBody>
          <a:bodyPr wrap="square" lIns="91440" tIns="45720" rIns="91440" bIns="45720" rtlCol="0" anchor="t">
            <a:spAutoFit/>
          </a:bodyPr>
          <a:lstStyle/>
          <a:p>
            <a:pPr>
              <a:lnSpc>
                <a:spcPct val="100000"/>
              </a:lnSpc>
            </a:pPr>
            <a:r>
              <a:rPr lang="en-US" sz="4400" dirty="0">
                <a:solidFill>
                  <a:srgbClr val="FFFFFF"/>
                </a:solidFill>
                <a:latin typeface="Source Han Sans SC" pitchFamily="34" charset="0"/>
                <a:ea typeface="Source Han Sans SC" pitchFamily="34" charset="-122"/>
                <a:cs typeface="Source Han Sans SC" pitchFamily="34" charset="-120"/>
              </a:rPr>
              <a:t>ER Diagram Fundamentals</a:t>
            </a:r>
            <a:endParaRPr lang="en-US" sz="1600" dirty="0"/>
          </a:p>
        </p:txBody>
      </p:sp>
      <p:sp>
        <p:nvSpPr>
          <p:cNvPr id="6" name="Shape 3"/>
          <p:cNvSpPr/>
          <p:nvPr/>
        </p:nvSpPr>
        <p:spPr>
          <a:xfrm>
            <a:off x="8832304" y="748641"/>
            <a:ext cx="2304256" cy="0"/>
          </a:xfrm>
          <a:prstGeom prst="straightConnector1">
            <a:avLst/>
          </a:prstGeom>
          <a:noFill/>
          <a:ln w="9525">
            <a:solidFill>
              <a:srgbClr val="FFFFFF"/>
            </a:solidFill>
            <a:prstDash val="solid"/>
            <a:headEnd type="none"/>
            <a:tailEnd type="triangle"/>
          </a:ln>
        </p:spPr>
      </p:sp>
      <p:sp>
        <p:nvSpPr>
          <p:cNvPr id="7" name="Text 4"/>
          <p:cNvSpPr/>
          <p:nvPr/>
        </p:nvSpPr>
        <p:spPr>
          <a:xfrm>
            <a:off x="1880553" y="4166870"/>
            <a:ext cx="8349615" cy="541734"/>
          </a:xfrm>
          <a:prstGeom prst="rect">
            <a:avLst/>
          </a:prstGeom>
          <a:noFill/>
          <a:ln/>
        </p:spPr>
        <p:txBody>
          <a:bodyPr wrap="square" lIns="91440" tIns="45720" rIns="91440" bIns="45720" rtlCol="0" anchor="t">
            <a:spAutoFit/>
          </a:bodyPr>
          <a:lstStyle/>
          <a:p>
            <a:pPr algn="ctr">
              <a:lnSpc>
                <a:spcPct val="100000"/>
              </a:lnSpc>
            </a:pPr>
            <a:r>
              <a:rPr lang="en-US" sz="3200" dirty="0">
                <a:solidFill>
                  <a:srgbClr val="FFFFFF"/>
                </a:solidFill>
                <a:latin typeface="Source Han Sans SC" pitchFamily="34" charset="0"/>
                <a:ea typeface="Source Han Sans SC" pitchFamily="34" charset="-122"/>
                <a:cs typeface="Source Han Sans SC" pitchFamily="34" charset="-120"/>
              </a:rPr>
              <a:t>Components of ER Diagrams</a:t>
            </a:r>
            <a:endParaRPr lang="en-US" sz="1600" dirty="0"/>
          </a:p>
        </p:txBody>
      </p:sp>
      <p:sp>
        <p:nvSpPr>
          <p:cNvPr id="8" name="Text 5"/>
          <p:cNvSpPr/>
          <p:nvPr/>
        </p:nvSpPr>
        <p:spPr>
          <a:xfrm>
            <a:off x="767715" y="4930775"/>
            <a:ext cx="10810875" cy="1355725"/>
          </a:xfrm>
          <a:prstGeom prst="rect">
            <a:avLst/>
          </a:prstGeom>
          <a:noFill/>
          <a:ln/>
        </p:spPr>
        <p:txBody>
          <a:bodyPr wrap="square" lIns="91440" tIns="45720" rIns="91440" bIns="45720" rtlCol="0" anchor="t"/>
          <a:lstStyle/>
          <a:p>
            <a:pPr>
              <a:lnSpc>
                <a:spcPct val="100000"/>
              </a:lnSpc>
            </a:pPr>
            <a:r>
              <a:rPr lang="en-US" sz="2000" dirty="0">
                <a:solidFill>
                  <a:srgbClr val="FFFFFF"/>
                </a:solidFill>
                <a:latin typeface="Source Han Sans SC Light" pitchFamily="34" charset="0"/>
                <a:ea typeface="Source Han Sans SC Light" pitchFamily="34" charset="-122"/>
                <a:cs typeface="Source Han Sans SC Light" pitchFamily="34" charset="-120"/>
              </a:rPr>
              <a:t>ER diagrams visually represent data models using rectangles for entities, ovals for attributes, and diamonds for relationships. They also include cardinality notations to specify the multiplicity of relationships.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161616"/>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967105" y="5422900"/>
            <a:ext cx="8810625" cy="1007110"/>
          </a:xfrm>
          <a:prstGeom prst="rect">
            <a:avLst/>
          </a:prstGeom>
          <a:noFill/>
          <a:ln/>
        </p:spPr>
        <p:txBody>
          <a:bodyPr wrap="square" lIns="91440" tIns="45720" rIns="91440" bIns="45720" rtlCol="0" anchor="t"/>
          <a:lstStyle/>
          <a:p>
            <a:pPr>
              <a:lnSpc>
                <a:spcPct val="100000"/>
              </a:lnSpc>
            </a:pPr>
            <a:r>
              <a:rPr lang="en-US" sz="4400" dirty="0">
                <a:solidFill>
                  <a:srgbClr val="FFFFFF"/>
                </a:solidFill>
                <a:latin typeface="Source Han Sans SC" pitchFamily="34" charset="0"/>
                <a:ea typeface="Source Han Sans SC" pitchFamily="34" charset="-122"/>
                <a:cs typeface="Source Han Sans SC" pitchFamily="34" charset="-120"/>
              </a:rPr>
              <a:t>Cardinality Patterns</a:t>
            </a:r>
            <a:endParaRPr lang="en-US" sz="1600" dirty="0"/>
          </a:p>
        </p:txBody>
      </p:sp>
      <p:pic>
        <p:nvPicPr>
          <p:cNvPr id="5" name="Image 0" descr="https://kimi-img.moonshot.cn/pub/slides/slides_tmpl/image/25-08-27-20:09:11-d2nfapp8bjvh7rlj0ilg.png"/>
          <p:cNvPicPr>
            <a:picLocks noChangeAspect="1"/>
          </p:cNvPicPr>
          <p:nvPr/>
        </p:nvPicPr>
        <p:blipFill>
          <a:blip r:embed="rId3"/>
          <a:stretch>
            <a:fillRect/>
          </a:stretch>
        </p:blipFill>
        <p:spPr>
          <a:xfrm>
            <a:off x="565150" y="554355"/>
            <a:ext cx="1414780" cy="1075690"/>
          </a:xfrm>
          <a:prstGeom prst="rect">
            <a:avLst/>
          </a:prstGeom>
        </p:spPr>
      </p:pic>
      <p:pic>
        <p:nvPicPr>
          <p:cNvPr id="6" name="Image 1" descr="https://kimi-img.moonshot.cn/pub/slides/slides_tmpl/image/25-08-27-20:09:11-d2nfapp8bjvh7rlj0im0.png"/>
          <p:cNvPicPr>
            <a:picLocks noChangeAspect="1"/>
          </p:cNvPicPr>
          <p:nvPr/>
        </p:nvPicPr>
        <p:blipFill>
          <a:blip r:embed="rId4"/>
          <a:stretch>
            <a:fillRect/>
          </a:stretch>
        </p:blipFill>
        <p:spPr>
          <a:xfrm>
            <a:off x="4285615" y="554355"/>
            <a:ext cx="1414780" cy="1075690"/>
          </a:xfrm>
          <a:prstGeom prst="rect">
            <a:avLst/>
          </a:prstGeom>
        </p:spPr>
      </p:pic>
      <p:pic>
        <p:nvPicPr>
          <p:cNvPr id="7" name="Image 2" descr="https://kimi-img.moonshot.cn/pub/slides/slides_tmpl/image/25-08-27-20:09:11-d2nfapp8bjvh7rlj0img.png"/>
          <p:cNvPicPr>
            <a:picLocks noChangeAspect="1"/>
          </p:cNvPicPr>
          <p:nvPr/>
        </p:nvPicPr>
        <p:blipFill>
          <a:blip r:embed="rId5"/>
          <a:stretch>
            <a:fillRect/>
          </a:stretch>
        </p:blipFill>
        <p:spPr>
          <a:xfrm>
            <a:off x="7882890" y="559435"/>
            <a:ext cx="1414780" cy="1075690"/>
          </a:xfrm>
          <a:prstGeom prst="rect">
            <a:avLst/>
          </a:prstGeom>
        </p:spPr>
      </p:pic>
      <p:sp>
        <p:nvSpPr>
          <p:cNvPr id="8" name="Text 3"/>
          <p:cNvSpPr/>
          <p:nvPr/>
        </p:nvSpPr>
        <p:spPr>
          <a:xfrm>
            <a:off x="839470" y="1245870"/>
            <a:ext cx="3388360" cy="697230"/>
          </a:xfrm>
          <a:prstGeom prst="rect">
            <a:avLst/>
          </a:prstGeom>
          <a:noFill/>
          <a:ln/>
        </p:spPr>
        <p:txBody>
          <a:bodyPr wrap="square" lIns="91440" tIns="45720" rIns="91440" bIns="45720" rtlCol="0" anchor="t"/>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One-to-One (1:1)</a:t>
            </a:r>
            <a:endParaRPr lang="en-US" sz="1600" dirty="0"/>
          </a:p>
        </p:txBody>
      </p:sp>
      <p:sp>
        <p:nvSpPr>
          <p:cNvPr id="9" name="Text 4"/>
          <p:cNvSpPr/>
          <p:nvPr/>
        </p:nvSpPr>
        <p:spPr>
          <a:xfrm>
            <a:off x="839470"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In a 1:1 relationship, a single record in one table is related to exactly one record in another table. This type of relationship is rare but useful in specific scenarios.</a:t>
            </a:r>
            <a:endParaRPr lang="en-US" sz="1600" dirty="0"/>
          </a:p>
        </p:txBody>
      </p:sp>
      <p:sp>
        <p:nvSpPr>
          <p:cNvPr id="10" name="Text 5"/>
          <p:cNvSpPr/>
          <p:nvPr/>
        </p:nvSpPr>
        <p:spPr>
          <a:xfrm>
            <a:off x="4534535" y="1245870"/>
            <a:ext cx="3388360" cy="697230"/>
          </a:xfrm>
          <a:prstGeom prst="rect">
            <a:avLst/>
          </a:prstGeom>
          <a:noFill/>
          <a:ln/>
        </p:spPr>
        <p:txBody>
          <a:bodyPr wrap="square" lIns="91440" tIns="45720" rIns="91440" bIns="45720" rtlCol="0" anchor="t"/>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One-to-Many (1:M)</a:t>
            </a:r>
            <a:endParaRPr lang="en-US" sz="1600" dirty="0"/>
          </a:p>
        </p:txBody>
      </p:sp>
      <p:sp>
        <p:nvSpPr>
          <p:cNvPr id="11" name="Text 6"/>
          <p:cNvSpPr/>
          <p:nvPr/>
        </p:nvSpPr>
        <p:spPr>
          <a:xfrm>
            <a:off x="4534535"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A 1:M relationship occurs when a single record in one table can relate to multiple records in another table. This is the most common type of relationship in relational databases.</a:t>
            </a:r>
            <a:endParaRPr lang="en-US" sz="1600" dirty="0"/>
          </a:p>
        </p:txBody>
      </p:sp>
      <p:sp>
        <p:nvSpPr>
          <p:cNvPr id="12" name="Text 7"/>
          <p:cNvSpPr/>
          <p:nvPr/>
        </p:nvSpPr>
        <p:spPr>
          <a:xfrm>
            <a:off x="8161655" y="1245870"/>
            <a:ext cx="3477260" cy="988417"/>
          </a:xfrm>
          <a:prstGeom prst="rect">
            <a:avLst/>
          </a:prstGeom>
          <a:noFill/>
          <a:ln/>
        </p:spPr>
        <p:txBody>
          <a:bodyPr wrap="square" lIns="91440" tIns="45720" rIns="91440" bIns="45720" rtlCol="0" anchor="t">
            <a:spAutoFit/>
          </a:bodyPr>
          <a:lstStyle/>
          <a:p>
            <a:pPr>
              <a:lnSpc>
                <a:spcPct val="100000"/>
              </a:lnSpc>
            </a:pPr>
            <a:r>
              <a:rPr lang="en-US" sz="2800" dirty="0">
                <a:solidFill>
                  <a:srgbClr val="FFFFFF"/>
                </a:solidFill>
                <a:latin typeface="Source Han Sans SC" pitchFamily="34" charset="0"/>
                <a:ea typeface="Source Han Sans SC" pitchFamily="34" charset="-122"/>
                <a:cs typeface="Source Han Sans SC" pitchFamily="34" charset="-120"/>
              </a:rPr>
              <a:t>Many-to-Many (M:N)</a:t>
            </a:r>
            <a:endParaRPr lang="en-US" sz="1600" dirty="0"/>
          </a:p>
        </p:txBody>
      </p:sp>
      <p:sp>
        <p:nvSpPr>
          <p:cNvPr id="13" name="Text 8"/>
          <p:cNvSpPr/>
          <p:nvPr/>
        </p:nvSpPr>
        <p:spPr>
          <a:xfrm>
            <a:off x="8161655" y="2224405"/>
            <a:ext cx="3239770" cy="2788920"/>
          </a:xfrm>
          <a:prstGeom prst="rect">
            <a:avLst/>
          </a:prstGeom>
          <a:noFill/>
          <a:ln/>
        </p:spPr>
        <p:txBody>
          <a:bodyPr wrap="square" lIns="91440" tIns="45720" rIns="91440" bIns="45720" rtlCol="0" anchor="t"/>
          <a:lstStyle/>
          <a:p>
            <a:pPr>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M:N relationships involve multiple records in one table relating to multiple records in another table. These relationships require a junction table to be implemented in a relational database.</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Normalization Techniques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alpha val="40000"/>
          </a:srgbClr>
        </a:solidFill>
        <a:effectLst/>
      </p:bgPr>
    </p:bg>
    <p:spTree>
      <p:nvGrpSpPr>
        <p:cNvPr id="1" name=""/>
        <p:cNvGrpSpPr/>
        <p:nvPr/>
      </p:nvGrpSpPr>
      <p:grpSpPr>
        <a:xfrm>
          <a:off x="0" y="0"/>
          <a:ext cx="0" cy="0"/>
          <a:chOff x="0" y="0"/>
          <a:chExt cx="0" cy="0"/>
        </a:xfrm>
      </p:grpSpPr>
      <p:pic>
        <p:nvPicPr>
          <p:cNvPr id="2" name="Image 0" descr="https://kimi-img.moonshot.cn/pub/slides/slides_tmpl/image/25-08-27-20:09:09-d2nfap98bjvh7rlj0id0.png"/>
          <p:cNvPicPr>
            <a:picLocks noChangeAspect="1"/>
          </p:cNvPicPr>
          <p:nvPr/>
        </p:nvPicPr>
        <p:blipFill>
          <a:blip r:embed="rId3"/>
          <a:srcRect t="35461"/>
          <a:stretch/>
        </p:blipFill>
        <p:spPr>
          <a:xfrm>
            <a:off x="-957580" y="1616075"/>
            <a:ext cx="14110335" cy="5241925"/>
          </a:xfrm>
          <a:prstGeom prst="rect">
            <a:avLst/>
          </a:prstGeom>
        </p:spPr>
      </p:pic>
      <p:sp>
        <p:nvSpPr>
          <p:cNvPr id="3" name="Text 0"/>
          <p:cNvSpPr/>
          <p:nvPr/>
        </p:nvSpPr>
        <p:spPr>
          <a:xfrm>
            <a:off x="686435" y="620713"/>
            <a:ext cx="10944225" cy="611584"/>
          </a:xfrm>
          <a:prstGeom prst="rect">
            <a:avLst/>
          </a:prstGeom>
          <a:noFill/>
          <a:ln/>
        </p:spPr>
        <p:txBody>
          <a:bodyPr wrap="square" lIns="91440" tIns="45720" rIns="91440" bIns="45720" rtlCol="0" anchor="ctr">
            <a:spAutoFit/>
          </a:bodyPr>
          <a:lstStyle/>
          <a:p>
            <a:pPr algn="ctr">
              <a:lnSpc>
                <a:spcPct val="100000"/>
              </a:lnSpc>
            </a:pPr>
            <a:r>
              <a:rPr lang="en-US" sz="3600" dirty="0">
                <a:solidFill>
                  <a:srgbClr val="000000"/>
                </a:solidFill>
                <a:latin typeface="Source Han Sans SC Medium" pitchFamily="34" charset="0"/>
                <a:ea typeface="Source Han Sans SC Medium" pitchFamily="34" charset="-122"/>
                <a:cs typeface="Source Han Sans SC Medium" pitchFamily="34" charset="-120"/>
              </a:rPr>
              <a:t>Purpose of Normalization</a:t>
            </a:r>
            <a:endParaRPr lang="en-US" sz="1600" dirty="0"/>
          </a:p>
        </p:txBody>
      </p:sp>
      <p:pic>
        <p:nvPicPr>
          <p:cNvPr id="4" name="Image 1" descr="https://kimi-img.moonshot.cn/pub/slides/slides_tmpl/image/25-08-27-20:09:09-d2nfap98bjvh7rlj0idg.jpg"/>
          <p:cNvPicPr>
            <a:picLocks noChangeAspect="1"/>
          </p:cNvPicPr>
          <p:nvPr/>
        </p:nvPicPr>
        <p:blipFill>
          <a:blip r:embed="rId4"/>
          <a:srcRect/>
          <a:stretch/>
        </p:blipFill>
        <p:spPr>
          <a:xfrm>
            <a:off x="2961045" y="2195814"/>
            <a:ext cx="2989665" cy="1549147"/>
          </a:xfrm>
          <a:prstGeom prst="rect">
            <a:avLst/>
          </a:prstGeom>
        </p:spPr>
      </p:pic>
      <p:sp>
        <p:nvSpPr>
          <p:cNvPr id="5" name="Shape 1"/>
          <p:cNvSpPr/>
          <p:nvPr/>
        </p:nvSpPr>
        <p:spPr>
          <a:xfrm>
            <a:off x="728892" y="4079855"/>
            <a:ext cx="270304" cy="270319"/>
          </a:xfrm>
          <a:prstGeom prst="ellipse">
            <a:avLst/>
          </a:prstGeom>
          <a:solidFill>
            <a:srgbClr val="000000">
              <a:alpha val="0"/>
            </a:srgbClr>
          </a:solidFill>
          <a:ln w="92075">
            <a:solidFill>
              <a:srgbClr val="9DB4E1"/>
            </a:solidFill>
            <a:prstDash val="solid"/>
          </a:ln>
        </p:spPr>
      </p:sp>
      <p:sp>
        <p:nvSpPr>
          <p:cNvPr id="6" name="Text 2"/>
          <p:cNvSpPr/>
          <p:nvPr/>
        </p:nvSpPr>
        <p:spPr>
          <a:xfrm>
            <a:off x="728892" y="4079855"/>
            <a:ext cx="270304" cy="270319"/>
          </a:xfrm>
          <a:prstGeom prst="rect">
            <a:avLst/>
          </a:prstGeom>
          <a:noFill/>
          <a:ln/>
        </p:spPr>
        <p:txBody>
          <a:bodyPr wrap="square" lIns="0" tIns="0" rIns="0" bIns="0" rtlCol="0" anchor="ctr"/>
          <a:lstStyle/>
          <a:p>
            <a:pPr>
              <a:lnSpc>
                <a:spcPct val="100000"/>
              </a:lnSpc>
            </a:pPr>
            <a:endParaRPr lang="en-US" sz="1600" dirty="0"/>
          </a:p>
        </p:txBody>
      </p:sp>
      <p:sp>
        <p:nvSpPr>
          <p:cNvPr id="7" name="Shape 3"/>
          <p:cNvSpPr/>
          <p:nvPr/>
        </p:nvSpPr>
        <p:spPr>
          <a:xfrm>
            <a:off x="6474237" y="4079855"/>
            <a:ext cx="270304" cy="270319"/>
          </a:xfrm>
          <a:prstGeom prst="ellipse">
            <a:avLst/>
          </a:prstGeom>
          <a:solidFill>
            <a:srgbClr val="000000">
              <a:alpha val="0"/>
            </a:srgbClr>
          </a:solidFill>
          <a:ln w="92075">
            <a:solidFill>
              <a:srgbClr val="9DB4E1"/>
            </a:solidFill>
            <a:prstDash val="solid"/>
          </a:ln>
        </p:spPr>
      </p:sp>
      <p:sp>
        <p:nvSpPr>
          <p:cNvPr id="8" name="Text 4"/>
          <p:cNvSpPr/>
          <p:nvPr/>
        </p:nvSpPr>
        <p:spPr>
          <a:xfrm>
            <a:off x="6474237" y="4079855"/>
            <a:ext cx="270304" cy="270319"/>
          </a:xfrm>
          <a:prstGeom prst="rect">
            <a:avLst/>
          </a:prstGeom>
          <a:noFill/>
          <a:ln/>
        </p:spPr>
        <p:txBody>
          <a:bodyPr wrap="square" lIns="0" tIns="0" rIns="0" bIns="0" rtlCol="0" anchor="ctr"/>
          <a:lstStyle/>
          <a:p>
            <a:pPr>
              <a:lnSpc>
                <a:spcPct val="100000"/>
              </a:lnSpc>
            </a:pPr>
            <a:endParaRPr lang="en-US" sz="1600" dirty="0"/>
          </a:p>
        </p:txBody>
      </p:sp>
      <p:pic>
        <p:nvPicPr>
          <p:cNvPr id="9" name="Image 2" descr="https://kimi-img.moonshot.cn/pub/slides/slides_tmpl/image/25-08-27-20:09:09-d2nfap98bjvh7rlj0ie0.jpg"/>
          <p:cNvPicPr>
            <a:picLocks noChangeAspect="1"/>
          </p:cNvPicPr>
          <p:nvPr/>
        </p:nvPicPr>
        <p:blipFill>
          <a:blip r:embed="rId5"/>
          <a:srcRect/>
          <a:stretch/>
        </p:blipFill>
        <p:spPr>
          <a:xfrm>
            <a:off x="8986337" y="2188285"/>
            <a:ext cx="2613513" cy="1530702"/>
          </a:xfrm>
          <a:prstGeom prst="rect">
            <a:avLst/>
          </a:prstGeom>
        </p:spPr>
      </p:pic>
      <p:pic>
        <p:nvPicPr>
          <p:cNvPr id="10" name="Image 3" descr="https://kimi-img.moonshot.cn/pub/slides/slides_tmpl/image/25-08-27-20:09:09-d2nfap98bjvh7rlj0ifg.jpg"/>
          <p:cNvPicPr>
            <a:picLocks noChangeAspect="1"/>
          </p:cNvPicPr>
          <p:nvPr/>
        </p:nvPicPr>
        <p:blipFill>
          <a:blip r:embed="rId6"/>
          <a:srcRect/>
          <a:stretch/>
        </p:blipFill>
        <p:spPr>
          <a:xfrm>
            <a:off x="6159291" y="2182214"/>
            <a:ext cx="2599731" cy="1522629"/>
          </a:xfrm>
          <a:prstGeom prst="rect">
            <a:avLst/>
          </a:prstGeom>
        </p:spPr>
      </p:pic>
      <p:pic>
        <p:nvPicPr>
          <p:cNvPr id="11" name="Image 4" descr="https://kimi-img.moonshot.cn/pub/slides/slides_tmpl/image/25-08-27-20:09:09-d2nfap98bjvh7rlj0if0.jpg"/>
          <p:cNvPicPr>
            <a:picLocks noChangeAspect="1"/>
          </p:cNvPicPr>
          <p:nvPr/>
        </p:nvPicPr>
        <p:blipFill>
          <a:blip r:embed="rId7"/>
          <a:srcRect/>
          <a:stretch/>
        </p:blipFill>
        <p:spPr>
          <a:xfrm>
            <a:off x="478102" y="2199944"/>
            <a:ext cx="2274362" cy="1556154"/>
          </a:xfrm>
          <a:prstGeom prst="rect">
            <a:avLst/>
          </a:prstGeom>
        </p:spPr>
      </p:pic>
      <p:sp>
        <p:nvSpPr>
          <p:cNvPr id="12" name="Text 5"/>
          <p:cNvSpPr/>
          <p:nvPr/>
        </p:nvSpPr>
        <p:spPr>
          <a:xfrm>
            <a:off x="-96688" y="4140646"/>
            <a:ext cx="6482735" cy="471884"/>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Definition of Normalization</a:t>
            </a:r>
            <a:endParaRPr lang="en-US" sz="1600" dirty="0"/>
          </a:p>
        </p:txBody>
      </p:sp>
      <p:sp>
        <p:nvSpPr>
          <p:cNvPr id="13" name="Text 6"/>
          <p:cNvSpPr/>
          <p:nvPr/>
        </p:nvSpPr>
        <p:spPr>
          <a:xfrm>
            <a:off x="388566" y="4737408"/>
            <a:ext cx="5512227" cy="16224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Normalization is the process of organizing data in a database to reduce redundancy and dependency. It ensures that each piece of data is stored only once, improving data integrity and consistency.</a:t>
            </a:r>
            <a:endParaRPr lang="en-US" sz="1600" dirty="0"/>
          </a:p>
        </p:txBody>
      </p:sp>
      <p:sp>
        <p:nvSpPr>
          <p:cNvPr id="14" name="Text 7"/>
          <p:cNvSpPr/>
          <p:nvPr/>
        </p:nvSpPr>
        <p:spPr>
          <a:xfrm>
            <a:off x="5640084" y="4140646"/>
            <a:ext cx="6482735" cy="471884"/>
          </a:xfrm>
          <a:prstGeom prst="rect">
            <a:avLst/>
          </a:prstGeom>
          <a:noFill/>
          <a:ln/>
        </p:spPr>
        <p:txBody>
          <a:bodyPr wrap="square" lIns="91440" tIns="45720" rIns="91440" bIns="45720" rtlCol="0" anchor="t">
            <a:spAutoFit/>
          </a:bodyPr>
          <a:lstStyle/>
          <a:p>
            <a:pPr algn="ct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Benefits of Normalization</a:t>
            </a:r>
            <a:endParaRPr lang="en-US" sz="1600" dirty="0"/>
          </a:p>
        </p:txBody>
      </p:sp>
      <p:sp>
        <p:nvSpPr>
          <p:cNvPr id="15" name="Text 8"/>
          <p:cNvSpPr/>
          <p:nvPr/>
        </p:nvSpPr>
        <p:spPr>
          <a:xfrm>
            <a:off x="6125338" y="4737408"/>
            <a:ext cx="5512227" cy="12922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Normalization helps eliminate data anomalies, making the database more efficient and easier to maintain. It also ensures that updates, inserts, and deletions do not lead to inconsistent data.</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44526" y="1951672"/>
            <a:ext cx="3780821" cy="1280517"/>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First Normal Form Rules</a:t>
            </a:r>
            <a:endParaRPr lang="en-US" sz="1600" dirty="0"/>
          </a:p>
        </p:txBody>
      </p:sp>
      <p:pic>
        <p:nvPicPr>
          <p:cNvPr id="3" name="Image 0" descr="https://kimi-img.moonshot.cn/pub/slides/slides_tmpl/image/25-08-27-20:09:12-d2nfaq18bjvh7rlj0io0.jpeg"/>
          <p:cNvPicPr>
            <a:picLocks noChangeAspect="1"/>
          </p:cNvPicPr>
          <p:nvPr/>
        </p:nvPicPr>
        <p:blipFill>
          <a:blip r:embed="rId3"/>
          <a:stretch>
            <a:fillRect/>
          </a:stretch>
        </p:blipFill>
        <p:spPr>
          <a:xfrm>
            <a:off x="7374577" y="325045"/>
            <a:ext cx="4174299" cy="6271247"/>
          </a:xfrm>
          <a:prstGeom prst="rect">
            <a:avLst/>
          </a:prstGeom>
        </p:spPr>
      </p:pic>
      <p:sp>
        <p:nvSpPr>
          <p:cNvPr id="4" name="Shape 1"/>
          <p:cNvSpPr/>
          <p:nvPr/>
        </p:nvSpPr>
        <p:spPr>
          <a:xfrm>
            <a:off x="4424827" y="645525"/>
            <a:ext cx="6084835" cy="5566950"/>
          </a:xfrm>
          <a:prstGeom prst="rect">
            <a:avLst/>
          </a:prstGeom>
          <a:solidFill>
            <a:srgbClr val="0D0D0D">
              <a:alpha val="72941"/>
            </a:srgbClr>
          </a:solidFill>
          <a:ln/>
        </p:spPr>
      </p:sp>
      <p:sp>
        <p:nvSpPr>
          <p:cNvPr id="5" name="Text 2"/>
          <p:cNvSpPr/>
          <p:nvPr/>
        </p:nvSpPr>
        <p:spPr>
          <a:xfrm>
            <a:off x="4424827" y="645525"/>
            <a:ext cx="6084835" cy="556695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3"/>
          <p:cNvSpPr/>
          <p:nvPr/>
        </p:nvSpPr>
        <p:spPr>
          <a:xfrm>
            <a:off x="1819575" y="1135628"/>
            <a:ext cx="363255" cy="363255"/>
          </a:xfrm>
          <a:prstGeom prst="ellipse">
            <a:avLst/>
          </a:prstGeom>
          <a:solidFill>
            <a:srgbClr val="000000">
              <a:alpha val="0"/>
            </a:srgbClr>
          </a:solidFill>
          <a:ln w="19050">
            <a:solidFill>
              <a:srgbClr val="262626"/>
            </a:solidFill>
            <a:prstDash val="solid"/>
          </a:ln>
        </p:spPr>
      </p:sp>
      <p:sp>
        <p:nvSpPr>
          <p:cNvPr id="7" name="Text 4"/>
          <p:cNvSpPr/>
          <p:nvPr/>
        </p:nvSpPr>
        <p:spPr>
          <a:xfrm>
            <a:off x="1819575" y="1135628"/>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2082972" y="1154416"/>
            <a:ext cx="325677" cy="325677"/>
          </a:xfrm>
          <a:prstGeom prst="ellipse">
            <a:avLst/>
          </a:prstGeom>
          <a:solidFill>
            <a:srgbClr val="9DB4E1"/>
          </a:solidFill>
          <a:ln/>
        </p:spPr>
      </p:sp>
      <p:sp>
        <p:nvSpPr>
          <p:cNvPr id="9" name="Text 6"/>
          <p:cNvSpPr/>
          <p:nvPr/>
        </p:nvSpPr>
        <p:spPr>
          <a:xfrm>
            <a:off x="2082972" y="1154416"/>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a:off x="2145351" y="1303561"/>
            <a:ext cx="225819" cy="1819"/>
          </a:xfrm>
          <a:prstGeom prst="straightConnector1">
            <a:avLst/>
          </a:prstGeom>
          <a:noFill/>
          <a:ln w="12700">
            <a:solidFill>
              <a:srgbClr val="262626"/>
            </a:solidFill>
            <a:prstDash val="solid"/>
            <a:headEnd type="none"/>
            <a:tailEnd type="triangle"/>
          </a:ln>
        </p:spPr>
      </p:sp>
      <p:sp>
        <p:nvSpPr>
          <p:cNvPr id="11" name="Text 8"/>
          <p:cNvSpPr/>
          <p:nvPr/>
        </p:nvSpPr>
        <p:spPr>
          <a:xfrm>
            <a:off x="4672141" y="1071726"/>
            <a:ext cx="5651474"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Atomic Values</a:t>
            </a:r>
            <a:endParaRPr lang="en-US" sz="1600" dirty="0"/>
          </a:p>
        </p:txBody>
      </p:sp>
      <p:sp>
        <p:nvSpPr>
          <p:cNvPr id="12" name="Text 9"/>
          <p:cNvSpPr/>
          <p:nvPr/>
        </p:nvSpPr>
        <p:spPr>
          <a:xfrm>
            <a:off x="4672330" y="1471930"/>
            <a:ext cx="5828030" cy="863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1NF requires that each column in a table contains atomic values, meaning that each cell should hold only one value. This ensures that data is stored in a structured manner.</a:t>
            </a:r>
            <a:endParaRPr lang="en-US" sz="1600" dirty="0"/>
          </a:p>
        </p:txBody>
      </p:sp>
      <p:sp>
        <p:nvSpPr>
          <p:cNvPr id="13" name="Text 10"/>
          <p:cNvSpPr/>
          <p:nvPr/>
        </p:nvSpPr>
        <p:spPr>
          <a:xfrm>
            <a:off x="444526" y="3220505"/>
            <a:ext cx="5651474"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1D2123"/>
                </a:solidFill>
                <a:latin typeface="Source Han Sans SC" pitchFamily="34" charset="0"/>
                <a:ea typeface="Source Han Sans SC" pitchFamily="34" charset="-122"/>
                <a:cs typeface="Source Han Sans SC" pitchFamily="34" charset="-120"/>
              </a:rPr>
              <a:t>No Repeating Groups</a:t>
            </a:r>
            <a:endParaRPr lang="en-US" sz="1600" dirty="0"/>
          </a:p>
        </p:txBody>
      </p:sp>
      <p:sp>
        <p:nvSpPr>
          <p:cNvPr id="14" name="Text 11"/>
          <p:cNvSpPr/>
          <p:nvPr/>
        </p:nvSpPr>
        <p:spPr>
          <a:xfrm>
            <a:off x="444526" y="3620615"/>
            <a:ext cx="3776649" cy="1456134"/>
          </a:xfrm>
          <a:prstGeom prst="rect">
            <a:avLst/>
          </a:prstGeom>
          <a:noFill/>
          <a:ln/>
        </p:spPr>
        <p:txBody>
          <a:bodyPr wrap="square" lIns="91440" tIns="45720" rIns="91440" bIns="45720" rtlCol="0" anchor="t">
            <a:spAutoFit/>
          </a:bodyPr>
          <a:lstStyle/>
          <a:p>
            <a:pPr>
              <a:lnSpc>
                <a:spcPct val="100000"/>
              </a:lnSpc>
            </a:pPr>
            <a:r>
              <a:rPr lang="en-US" sz="1600" dirty="0">
                <a:solidFill>
                  <a:srgbClr val="1D2123"/>
                </a:solidFill>
                <a:latin typeface="Source Han Sans SC Normal" pitchFamily="34" charset="0"/>
                <a:ea typeface="Source Han Sans SC Normal" pitchFamily="34" charset="-122"/>
                <a:cs typeface="Source Han Sans SC Normal" pitchFamily="34" charset="-120"/>
              </a:rPr>
              <a:t>1NF eliminates repeating groups by splitting multi-valued entries into separate rows or tables. This prevents redundancy and ensures that each piece of data is stored only once.</a:t>
            </a:r>
            <a:endParaRPr lang="en-US" sz="1600" dirty="0"/>
          </a:p>
        </p:txBody>
      </p:sp>
      <p:sp>
        <p:nvSpPr>
          <p:cNvPr id="15" name="Text 12"/>
          <p:cNvSpPr/>
          <p:nvPr/>
        </p:nvSpPr>
        <p:spPr>
          <a:xfrm>
            <a:off x="4672141" y="2686267"/>
            <a:ext cx="5651474"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Unique Rows</a:t>
            </a:r>
            <a:endParaRPr lang="en-US" sz="1600" dirty="0"/>
          </a:p>
        </p:txBody>
      </p:sp>
      <p:sp>
        <p:nvSpPr>
          <p:cNvPr id="16" name="Text 13"/>
          <p:cNvSpPr/>
          <p:nvPr/>
        </p:nvSpPr>
        <p:spPr>
          <a:xfrm>
            <a:off x="4672330" y="3086100"/>
            <a:ext cx="5782310" cy="863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Each row in a table must be unique, identified by a primary key. This ensures that there are no duplicate records, maintaining data integrity.</a:t>
            </a:r>
            <a:endParaRPr lang="en-US" sz="1600" dirty="0"/>
          </a:p>
        </p:txBody>
      </p:sp>
      <p:sp>
        <p:nvSpPr>
          <p:cNvPr id="17" name="Text 14"/>
          <p:cNvSpPr/>
          <p:nvPr/>
        </p:nvSpPr>
        <p:spPr>
          <a:xfrm>
            <a:off x="4672141" y="4372060"/>
            <a:ext cx="5651474"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Example</a:t>
            </a:r>
            <a:endParaRPr lang="en-US" sz="1600" dirty="0"/>
          </a:p>
        </p:txBody>
      </p:sp>
      <p:sp>
        <p:nvSpPr>
          <p:cNvPr id="18" name="Text 15"/>
          <p:cNvSpPr/>
          <p:nvPr/>
        </p:nvSpPr>
        <p:spPr>
          <a:xfrm>
            <a:off x="4672330" y="4772025"/>
            <a:ext cx="5781675"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For example, a column for multiple phone numbers violates 1NF. Splitting it into individual phone number columns or rows resolves this issue, ensuring compliance with 1NF.</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5035148" cy="6858001"/>
          </a:xfrm>
          <a:prstGeom prst="rect">
            <a:avLst/>
          </a:prstGeom>
          <a:solidFill>
            <a:srgbClr val="161616"/>
          </a:solidFill>
          <a:ln/>
        </p:spPr>
      </p:sp>
      <p:sp>
        <p:nvSpPr>
          <p:cNvPr id="3" name="Text 1"/>
          <p:cNvSpPr/>
          <p:nvPr/>
        </p:nvSpPr>
        <p:spPr>
          <a:xfrm>
            <a:off x="0" y="-1"/>
            <a:ext cx="5035148"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6-d2nfaoh8bjvh7rlj0i6g.jpeg"/>
          <p:cNvPicPr>
            <a:picLocks noChangeAspect="1"/>
          </p:cNvPicPr>
          <p:nvPr/>
        </p:nvPicPr>
        <p:blipFill>
          <a:blip r:embed="rId3"/>
          <a:srcRect/>
          <a:stretch/>
        </p:blipFill>
        <p:spPr>
          <a:xfrm>
            <a:off x="5035148" y="-1"/>
            <a:ext cx="7178987" cy="6858001"/>
          </a:xfrm>
          <a:prstGeom prst="rect">
            <a:avLst/>
          </a:prstGeom>
        </p:spPr>
      </p:pic>
      <p:sp>
        <p:nvSpPr>
          <p:cNvPr id="5" name="Shape 2"/>
          <p:cNvSpPr/>
          <p:nvPr/>
        </p:nvSpPr>
        <p:spPr>
          <a:xfrm>
            <a:off x="5025548" y="-2259"/>
            <a:ext cx="7215145" cy="6858000"/>
          </a:xfrm>
          <a:prstGeom prst="rect">
            <a:avLst/>
          </a:prstGeom>
          <a:solidFill>
            <a:srgbClr val="404040">
              <a:alpha val="67843"/>
            </a:srgbClr>
          </a:solidFill>
          <a:ln/>
        </p:spPr>
      </p:sp>
      <p:sp>
        <p:nvSpPr>
          <p:cNvPr id="6" name="Text 3"/>
          <p:cNvSpPr/>
          <p:nvPr/>
        </p:nvSpPr>
        <p:spPr>
          <a:xfrm>
            <a:off x="5025548" y="-2259"/>
            <a:ext cx="7215145" cy="6858000"/>
          </a:xfrm>
          <a:prstGeom prst="rect">
            <a:avLst/>
          </a:prstGeom>
          <a:noFill/>
          <a:ln/>
        </p:spPr>
        <p:txBody>
          <a:bodyPr wrap="square" lIns="45720" tIns="91440" rIns="91440" bIns="45720" rtlCol="0" anchor="ctr"/>
          <a:lstStyle/>
          <a:p>
            <a:pPr>
              <a:lnSpc>
                <a:spcPct val="100000"/>
              </a:lnSpc>
            </a:pPr>
            <a:endParaRPr lang="en-US" sz="1600" dirty="0"/>
          </a:p>
        </p:txBody>
      </p:sp>
      <p:pic>
        <p:nvPicPr>
          <p:cNvPr id="7" name="Image 1" descr="https://kimi-img.moonshot.cn/pub/slides/slides_tmpl/image/25-08-27-20:09:05-d2nfao98bjvh7rlj0i50.jpg"/>
          <p:cNvPicPr>
            <a:picLocks noChangeAspect="1"/>
          </p:cNvPicPr>
          <p:nvPr/>
        </p:nvPicPr>
        <p:blipFill>
          <a:blip r:embed="rId4"/>
          <a:stretch>
            <a:fillRect/>
          </a:stretch>
        </p:blipFill>
        <p:spPr>
          <a:xfrm>
            <a:off x="7813973" y="851740"/>
            <a:ext cx="3767263" cy="2511509"/>
          </a:xfrm>
          <a:prstGeom prst="rect">
            <a:avLst/>
          </a:prstGeom>
        </p:spPr>
      </p:pic>
      <p:pic>
        <p:nvPicPr>
          <p:cNvPr id="8" name="Image 2" descr="https://kimi-img.moonshot.cn/pub/slides/slides_tmpl/image/25-08-27-20:09:06-d2nfaoh8bjvh7rlj0i5g.jpg"/>
          <p:cNvPicPr>
            <a:picLocks noChangeAspect="1"/>
          </p:cNvPicPr>
          <p:nvPr/>
        </p:nvPicPr>
        <p:blipFill>
          <a:blip r:embed="rId5"/>
          <a:stretch>
            <a:fillRect/>
          </a:stretch>
        </p:blipFill>
        <p:spPr>
          <a:xfrm>
            <a:off x="7813973" y="3426741"/>
            <a:ext cx="3767263" cy="2496100"/>
          </a:xfrm>
          <a:prstGeom prst="rect">
            <a:avLst/>
          </a:prstGeom>
        </p:spPr>
      </p:pic>
      <p:pic>
        <p:nvPicPr>
          <p:cNvPr id="9" name="Image 3" descr="https://kimi-img.moonshot.cn/pub/slides/slides_tmpl/image/25-08-27-20:09:06-d2nfaoh8bjvh7rlj0i60.jpg"/>
          <p:cNvPicPr>
            <a:picLocks noChangeAspect="1"/>
          </p:cNvPicPr>
          <p:nvPr/>
        </p:nvPicPr>
        <p:blipFill>
          <a:blip r:embed="rId6"/>
          <a:srcRect/>
          <a:stretch/>
        </p:blipFill>
        <p:spPr>
          <a:xfrm>
            <a:off x="5962895" y="863300"/>
            <a:ext cx="1788699" cy="1370065"/>
          </a:xfrm>
          <a:prstGeom prst="rect">
            <a:avLst/>
          </a:prstGeom>
        </p:spPr>
      </p:pic>
      <p:pic>
        <p:nvPicPr>
          <p:cNvPr id="10" name="Image 4" descr="https://kimi-img.moonshot.cn/pub/slides/slides_tmpl/image/25-08-27-20:09:06-d2nfaoh8bjvh7rlj0i7g.jpg"/>
          <p:cNvPicPr>
            <a:picLocks noChangeAspect="1"/>
          </p:cNvPicPr>
          <p:nvPr/>
        </p:nvPicPr>
        <p:blipFill>
          <a:blip r:embed="rId7"/>
          <a:stretch>
            <a:fillRect/>
          </a:stretch>
        </p:blipFill>
        <p:spPr>
          <a:xfrm>
            <a:off x="5972163" y="2302450"/>
            <a:ext cx="1779431" cy="2387497"/>
          </a:xfrm>
          <a:prstGeom prst="rect">
            <a:avLst/>
          </a:prstGeom>
        </p:spPr>
      </p:pic>
      <p:pic>
        <p:nvPicPr>
          <p:cNvPr id="11" name="Image 5" descr="https://kimi-img.moonshot.cn/pub/slides/slides_tmpl/image/25-08-27-20:09:06-d2nfaoh8bjvh7rlj0i80.jpg"/>
          <p:cNvPicPr>
            <a:picLocks noChangeAspect="1"/>
          </p:cNvPicPr>
          <p:nvPr/>
        </p:nvPicPr>
        <p:blipFill>
          <a:blip r:embed="rId8"/>
          <a:srcRect/>
          <a:stretch/>
        </p:blipFill>
        <p:spPr>
          <a:xfrm>
            <a:off x="5972163" y="4759032"/>
            <a:ext cx="1779431" cy="1163809"/>
          </a:xfrm>
          <a:prstGeom prst="rect">
            <a:avLst/>
          </a:prstGeom>
        </p:spPr>
      </p:pic>
      <p:sp>
        <p:nvSpPr>
          <p:cNvPr id="12" name="Text 4"/>
          <p:cNvSpPr/>
          <p:nvPr/>
        </p:nvSpPr>
        <p:spPr>
          <a:xfrm>
            <a:off x="364490" y="1007110"/>
            <a:ext cx="3987800" cy="1280517"/>
          </a:xfrm>
          <a:prstGeom prst="rect">
            <a:avLst/>
          </a:prstGeom>
          <a:noFill/>
          <a:ln/>
        </p:spPr>
        <p:txBody>
          <a:bodyPr wrap="square" lIns="91440" tIns="45720" rIns="91440" bIns="45720" rtlCol="0" anchor="t">
            <a:spAutoFit/>
          </a:bodyPr>
          <a:lstStyle/>
          <a:p>
            <a:pPr>
              <a:lnSpc>
                <a:spcPct val="100000"/>
              </a:lnSpc>
            </a:pPr>
            <a:r>
              <a:rPr lang="en-US" sz="3600" dirty="0">
                <a:solidFill>
                  <a:srgbClr val="FFFFFF"/>
                </a:solidFill>
                <a:latin typeface="Source Han Sans SC" pitchFamily="34" charset="0"/>
                <a:ea typeface="Source Han Sans SC" pitchFamily="34" charset="-122"/>
                <a:cs typeface="Source Han Sans SC" pitchFamily="34" charset="-120"/>
              </a:rPr>
              <a:t>Second Normal Form Explained</a:t>
            </a:r>
            <a:endParaRPr lang="en-US" sz="1600" dirty="0"/>
          </a:p>
        </p:txBody>
      </p:sp>
      <p:sp>
        <p:nvSpPr>
          <p:cNvPr id="13" name="Text 5"/>
          <p:cNvSpPr/>
          <p:nvPr/>
        </p:nvSpPr>
        <p:spPr>
          <a:xfrm>
            <a:off x="364490" y="3611880"/>
            <a:ext cx="4427220" cy="499745"/>
          </a:xfrm>
          <a:prstGeom prst="rect">
            <a:avLst/>
          </a:prstGeom>
          <a:noFill/>
          <a:ln/>
        </p:spPr>
        <p:txBody>
          <a:bodyPr wrap="square" lIns="91440" tIns="45720" rIns="91440" bIns="45720" rtlCol="0" anchor="b"/>
          <a:lstStyle/>
          <a:p>
            <a:pPr>
              <a:lnSpc>
                <a:spcPct val="100000"/>
              </a:lnSpc>
            </a:pPr>
            <a:r>
              <a:rPr lang="en-US" sz="2400" dirty="0">
                <a:solidFill>
                  <a:srgbClr val="9DB4E0"/>
                </a:solidFill>
                <a:latin typeface="Source Han Sans SC" pitchFamily="34" charset="0"/>
                <a:ea typeface="Source Han Sans SC" pitchFamily="34" charset="-122"/>
                <a:cs typeface="Source Han Sans SC" pitchFamily="34" charset="-120"/>
              </a:rPr>
              <a:t>2NF Requirements</a:t>
            </a:r>
            <a:endParaRPr lang="en-US" sz="1600" dirty="0"/>
          </a:p>
        </p:txBody>
      </p:sp>
      <p:sp>
        <p:nvSpPr>
          <p:cNvPr id="14" name="Text 6"/>
          <p:cNvSpPr/>
          <p:nvPr/>
        </p:nvSpPr>
        <p:spPr>
          <a:xfrm>
            <a:off x="364490" y="4256405"/>
            <a:ext cx="4383405" cy="2402840"/>
          </a:xfrm>
          <a:prstGeom prst="rect">
            <a:avLst/>
          </a:prstGeom>
          <a:noFill/>
          <a:ln/>
        </p:spPr>
        <p:txBody>
          <a:bodyPr wrap="square" lIns="91440" tIns="45720" rIns="91440" bIns="45720" rtlCol="0" anchor="t"/>
          <a:lstStyle/>
          <a:p>
            <a:pPr algn="just">
              <a:lnSpc>
                <a:spcPct val="100000"/>
              </a:lnSpc>
            </a:pPr>
            <a:r>
              <a:rPr lang="en-US" sz="1800" dirty="0">
                <a:solidFill>
                  <a:srgbClr val="FFFFFF"/>
                </a:solidFill>
                <a:latin typeface="Source Han Sans SC Light" pitchFamily="34" charset="0"/>
                <a:ea typeface="Source Han Sans SC Light" pitchFamily="34" charset="-122"/>
                <a:cs typeface="Source Han Sans SC Light" pitchFamily="34" charset="-120"/>
              </a:rPr>
              <a:t>2NF is achieved when all non-key attributes are fully functionally dependent on the entire composite primary key. This removes partial dependencies that can cause redundancy and update anomalies.</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1-d2nfapp8bjvh7rlj0ik0.jpg"/>
          <p:cNvPicPr>
            <a:picLocks noChangeAspect="1"/>
          </p:cNvPicPr>
          <p:nvPr/>
        </p:nvPicPr>
        <p:blipFill>
          <a:blip r:embed="rId3"/>
          <a:stretch>
            <a:fillRect/>
          </a:stretch>
        </p:blipFill>
        <p:spPr>
          <a:xfrm>
            <a:off x="320668" y="3158118"/>
            <a:ext cx="7772400" cy="3184438"/>
          </a:xfrm>
          <a:prstGeom prst="rect">
            <a:avLst/>
          </a:prstGeom>
        </p:spPr>
      </p:pic>
      <p:sp>
        <p:nvSpPr>
          <p:cNvPr id="3" name="Text 0"/>
          <p:cNvSpPr/>
          <p:nvPr/>
        </p:nvSpPr>
        <p:spPr>
          <a:xfrm>
            <a:off x="587375" y="548640"/>
            <a:ext cx="7248525" cy="611584"/>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Source Han Sans SC Bold" pitchFamily="34" charset="0"/>
                <a:ea typeface="Source Han Sans SC Bold" pitchFamily="34" charset="-122"/>
                <a:cs typeface="Source Han Sans SC Bold" pitchFamily="34" charset="-120"/>
              </a:rPr>
              <a:t>Third Normal Form Defined</a:t>
            </a:r>
            <a:endParaRPr lang="en-US" sz="1600" dirty="0"/>
          </a:p>
        </p:txBody>
      </p:sp>
      <p:sp>
        <p:nvSpPr>
          <p:cNvPr id="4" name="Text 1"/>
          <p:cNvSpPr/>
          <p:nvPr/>
        </p:nvSpPr>
        <p:spPr>
          <a:xfrm>
            <a:off x="587195" y="2276872"/>
            <a:ext cx="6588925" cy="340717"/>
          </a:xfrm>
          <a:prstGeom prst="rect">
            <a:avLst/>
          </a:prstGeom>
          <a:noFill/>
          <a:ln/>
        </p:spPr>
        <p:txBody>
          <a:bodyPr wrap="square" lIns="91440" tIns="45720" rIns="91440" bIns="45720" rtlCol="0" anchor="b">
            <a:spAutoFit/>
          </a:bodyPr>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3NF Definition</a:t>
            </a:r>
            <a:endParaRPr lang="en-US" sz="1600" dirty="0"/>
          </a:p>
        </p:txBody>
      </p:sp>
      <p:sp>
        <p:nvSpPr>
          <p:cNvPr id="5" name="Text 2"/>
          <p:cNvSpPr/>
          <p:nvPr/>
        </p:nvSpPr>
        <p:spPr>
          <a:xfrm>
            <a:off x="587375" y="2681605"/>
            <a:ext cx="5427980"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3NF removes transitive dependencies by ensuring that non-key attributes depend only on the primary key, not on other non-key columns. This prevents indirect relationships from causing data anomalies.</a:t>
            </a:r>
            <a:endParaRPr lang="en-US" sz="1600" dirty="0"/>
          </a:p>
        </p:txBody>
      </p:sp>
      <p:sp>
        <p:nvSpPr>
          <p:cNvPr id="6" name="Text 3"/>
          <p:cNvSpPr/>
          <p:nvPr/>
        </p:nvSpPr>
        <p:spPr>
          <a:xfrm>
            <a:off x="8305165" y="842010"/>
            <a:ext cx="3493135" cy="377190"/>
          </a:xfrm>
          <a:prstGeom prst="rect">
            <a:avLst/>
          </a:prstGeom>
          <a:noFill/>
          <a:ln/>
        </p:spPr>
        <p:txBody>
          <a:bodyPr wrap="square" lIns="91440" tIns="45720" rIns="91440" bIns="45720" rtlCol="0" anchor="b"/>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Example</a:t>
            </a:r>
            <a:endParaRPr lang="en-US" sz="1600" dirty="0"/>
          </a:p>
        </p:txBody>
      </p:sp>
      <p:sp>
        <p:nvSpPr>
          <p:cNvPr id="7" name="Text 4"/>
          <p:cNvSpPr/>
          <p:nvPr/>
        </p:nvSpPr>
        <p:spPr>
          <a:xfrm>
            <a:off x="8305387" y="1246654"/>
            <a:ext cx="3430797" cy="1752600"/>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For example, the product price should not depend on the product category if the category is not part of the primary key. This ensures that updates to the category do not inadvertently affect the price.</a:t>
            </a:r>
            <a:endParaRPr lang="en-US" sz="1600" dirty="0"/>
          </a:p>
        </p:txBody>
      </p:sp>
      <p:sp>
        <p:nvSpPr>
          <p:cNvPr id="8" name="Text 5"/>
          <p:cNvSpPr/>
          <p:nvPr/>
        </p:nvSpPr>
        <p:spPr>
          <a:xfrm>
            <a:off x="8328025" y="3933190"/>
            <a:ext cx="3500755" cy="286385"/>
          </a:xfrm>
          <a:prstGeom prst="rect">
            <a:avLst/>
          </a:prstGeom>
          <a:noFill/>
          <a:ln/>
        </p:spPr>
        <p:txBody>
          <a:bodyPr wrap="square" lIns="91440" tIns="45720" rIns="91440" bIns="45720" rtlCol="0" anchor="b"/>
          <a:lstStyle/>
          <a:p>
            <a:pPr>
              <a:lnSpc>
                <a:spcPct val="100000"/>
              </a:lnSpc>
            </a:pPr>
            <a:r>
              <a:rPr lang="en-US" sz="2000" dirty="0">
                <a:solidFill>
                  <a:srgbClr val="9DB4E1"/>
                </a:solidFill>
                <a:latin typeface="Source Han Sans SC" pitchFamily="34" charset="0"/>
                <a:ea typeface="Source Han Sans SC" pitchFamily="34" charset="-122"/>
                <a:cs typeface="Source Han Sans SC" pitchFamily="34" charset="-120"/>
              </a:rPr>
              <a:t>Benefits</a:t>
            </a:r>
            <a:endParaRPr lang="en-US" sz="1600" dirty="0"/>
          </a:p>
        </p:txBody>
      </p:sp>
      <p:sp>
        <p:nvSpPr>
          <p:cNvPr id="9" name="Text 6"/>
          <p:cNvSpPr/>
          <p:nvPr/>
        </p:nvSpPr>
        <p:spPr>
          <a:xfrm>
            <a:off x="8305387" y="4365154"/>
            <a:ext cx="3430797" cy="1456134"/>
          </a:xfrm>
          <a:prstGeom prst="rect">
            <a:avLst/>
          </a:prstGeom>
          <a:noFill/>
          <a:ln/>
        </p:spPr>
        <p:txBody>
          <a:bodyPr wrap="square" lIns="91440" tIns="45720" rIns="91440" bIns="45720" rtlCol="0" anchor="t">
            <a:spAutoFit/>
          </a:bodyPr>
          <a:lstStyle/>
          <a:p>
            <a:pPr>
              <a:lnSpc>
                <a:spcPct val="100000"/>
              </a:lnSpc>
            </a:pPr>
            <a:r>
              <a:rPr lang="en-US" sz="1600" dirty="0">
                <a:solidFill>
                  <a:srgbClr val="0D0D0D"/>
                </a:solidFill>
                <a:latin typeface="Source Han Sans SC Light" pitchFamily="34" charset="0"/>
                <a:ea typeface="Source Han Sans SC Light" pitchFamily="34" charset="-122"/>
                <a:cs typeface="Source Han Sans SC Light" pitchFamily="34" charset="-120"/>
              </a:rPr>
              <a:t>3NF ensures that the database is free from update anomalies, making it more robust and easier to maintain. It also improves data consistency and reliability.</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From Diagram to Schema</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536" y="1196752"/>
            <a:ext cx="2042939" cy="2426331"/>
          </a:xfrm>
          <a:prstGeom prst="rect">
            <a:avLst/>
          </a:prstGeom>
          <a:solidFill>
            <a:srgbClr val="000000">
              <a:alpha val="0"/>
            </a:srgbClr>
          </a:solidFill>
          <a:ln w="85725">
            <a:gradFill flip="none" rotWithShape="1">
              <a:gsLst>
                <a:gs pos="0">
                  <a:srgbClr val="C2F5E1"/>
                </a:gs>
                <a:gs pos="20000">
                  <a:srgbClr val="AAC0E5"/>
                </a:gs>
                <a:gs pos="100000">
                  <a:srgbClr val="9DB4E1"/>
                </a:gs>
              </a:gsLst>
              <a:lin ang="7200000" scaled="1"/>
            </a:gradFill>
            <a:prstDash val="solid"/>
          </a:ln>
        </p:spPr>
      </p:sp>
      <p:sp>
        <p:nvSpPr>
          <p:cNvPr id="3" name="Text 1"/>
          <p:cNvSpPr/>
          <p:nvPr/>
        </p:nvSpPr>
        <p:spPr>
          <a:xfrm>
            <a:off x="877536" y="1196752"/>
            <a:ext cx="2042939" cy="242633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08-d2nfap18bjvh7rlj0ib0.jpg"/>
          <p:cNvPicPr>
            <a:picLocks noChangeAspect="1"/>
          </p:cNvPicPr>
          <p:nvPr/>
        </p:nvPicPr>
        <p:blipFill>
          <a:blip r:embed="rId3"/>
          <a:stretch>
            <a:fillRect/>
          </a:stretch>
        </p:blipFill>
        <p:spPr>
          <a:xfrm>
            <a:off x="1224873" y="1407713"/>
            <a:ext cx="3092012" cy="4677457"/>
          </a:xfrm>
          <a:prstGeom prst="rect">
            <a:avLst/>
          </a:prstGeom>
        </p:spPr>
      </p:pic>
      <p:sp>
        <p:nvSpPr>
          <p:cNvPr id="5" name="Text 2"/>
          <p:cNvSpPr/>
          <p:nvPr/>
        </p:nvSpPr>
        <p:spPr>
          <a:xfrm>
            <a:off x="4862830" y="764540"/>
            <a:ext cx="6449060" cy="611584"/>
          </a:xfrm>
          <a:prstGeom prst="rect">
            <a:avLst/>
          </a:prstGeom>
          <a:noFill/>
          <a:ln/>
        </p:spPr>
        <p:txBody>
          <a:bodyPr wrap="square" lIns="91440" tIns="45720" rIns="91440" bIns="45720" rtlCol="0" anchor="t">
            <a:spAutoFit/>
          </a:bodyPr>
          <a:lstStyle/>
          <a:p>
            <a:pPr algn="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Converting Entities to Tables</a:t>
            </a:r>
            <a:endParaRPr lang="en-US" sz="1600" dirty="0"/>
          </a:p>
        </p:txBody>
      </p:sp>
      <p:sp>
        <p:nvSpPr>
          <p:cNvPr id="6" name="Text 3"/>
          <p:cNvSpPr/>
          <p:nvPr/>
        </p:nvSpPr>
        <p:spPr>
          <a:xfrm>
            <a:off x="5006070" y="2719643"/>
            <a:ext cx="6450272" cy="402034"/>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Step-by-Step Conversion</a:t>
            </a:r>
            <a:endParaRPr lang="en-US" sz="1600" dirty="0"/>
          </a:p>
        </p:txBody>
      </p:sp>
      <p:sp>
        <p:nvSpPr>
          <p:cNvPr id="7" name="Text 4"/>
          <p:cNvSpPr/>
          <p:nvPr/>
        </p:nvSpPr>
        <p:spPr>
          <a:xfrm>
            <a:off x="4742815" y="3141980"/>
            <a:ext cx="6713220" cy="16224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To convert an ER diagram to a relational schema, map each entity to a table, transform attributes into columns, and represent relationships as foreign-key columns. This process ensures that the conceptual model is accurately implemented.</a:t>
            </a:r>
            <a:endParaRPr lang="en-US" sz="1600" dirty="0"/>
          </a:p>
        </p:txBody>
      </p:sp>
      <p:sp>
        <p:nvSpPr>
          <p:cNvPr id="8" name="Text 5"/>
          <p:cNvSpPr/>
          <p:nvPr/>
        </p:nvSpPr>
        <p:spPr>
          <a:xfrm>
            <a:off x="5006070" y="4444266"/>
            <a:ext cx="6450272" cy="402034"/>
          </a:xfrm>
          <a:prstGeom prst="rect">
            <a:avLst/>
          </a:prstGeom>
          <a:noFill/>
          <a:ln/>
        </p:spPr>
        <p:txBody>
          <a:bodyPr wrap="square" lIns="91440" tIns="45720" rIns="91440" bIns="45720" rtlCol="0" anchor="t">
            <a:spAutoFit/>
          </a:bodyPr>
          <a:lstStyle/>
          <a:p>
            <a:pPr algn="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Importance of Accurate Conversion</a:t>
            </a:r>
            <a:endParaRPr lang="en-US" sz="1600" dirty="0"/>
          </a:p>
        </p:txBody>
      </p:sp>
      <p:sp>
        <p:nvSpPr>
          <p:cNvPr id="9" name="Text 6"/>
          <p:cNvSpPr/>
          <p:nvPr/>
        </p:nvSpPr>
        <p:spPr>
          <a:xfrm>
            <a:off x="4742815" y="4866640"/>
            <a:ext cx="6713220" cy="129222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Accurate conversion from ER diagrams to tables is crucial for maintaining the integrity of the data model. It ensures that relationships and constraints are correctly implemented in the database.</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
            <a:ext cx="12192000" cy="6858001"/>
          </a:xfrm>
          <a:prstGeom prst="rect">
            <a:avLst/>
          </a:prstGeom>
          <a:solidFill>
            <a:srgbClr val="0D0D0D"/>
          </a:solidFill>
          <a:ln/>
        </p:spPr>
      </p:sp>
      <p:sp>
        <p:nvSpPr>
          <p:cNvPr id="3" name="Text 1"/>
          <p:cNvSpPr/>
          <p:nvPr/>
        </p:nvSpPr>
        <p:spPr>
          <a:xfrm>
            <a:off x="0" y="-1"/>
            <a:ext cx="12192000" cy="6858001"/>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r0.jpeg"/>
          <p:cNvPicPr>
            <a:picLocks noChangeAspect="1"/>
          </p:cNvPicPr>
          <p:nvPr/>
        </p:nvPicPr>
        <p:blipFill>
          <a:blip r:embed="rId3"/>
          <a:srcRect/>
          <a:stretch/>
        </p:blipFill>
        <p:spPr>
          <a:xfrm flipH="1">
            <a:off x="408127" y="2521292"/>
            <a:ext cx="6341541" cy="3473039"/>
          </a:xfrm>
          <a:prstGeom prst="rect">
            <a:avLst/>
          </a:prstGeom>
        </p:spPr>
      </p:pic>
      <p:sp>
        <p:nvSpPr>
          <p:cNvPr id="5" name="Text 2"/>
          <p:cNvSpPr/>
          <p:nvPr/>
        </p:nvSpPr>
        <p:spPr>
          <a:xfrm>
            <a:off x="551180" y="492760"/>
            <a:ext cx="6088380" cy="1285875"/>
          </a:xfrm>
          <a:prstGeom prst="rect">
            <a:avLst/>
          </a:prstGeom>
          <a:noFill/>
          <a:ln/>
        </p:spPr>
        <p:txBody>
          <a:bodyPr wrap="square" lIns="91440" tIns="45720" rIns="91440" bIns="45720" rtlCol="0" anchor="t"/>
          <a:lstStyle/>
          <a:p>
            <a:pPr>
              <a:lnSpc>
                <a:spcPct val="100000"/>
              </a:lnSpc>
            </a:pPr>
            <a:r>
              <a:rPr lang="en-US" sz="3400" dirty="0">
                <a:solidFill>
                  <a:srgbClr val="FFFFFF"/>
                </a:solidFill>
                <a:latin typeface="Source Han Sans SC" pitchFamily="34" charset="0"/>
                <a:ea typeface="Source Han Sans SC" pitchFamily="34" charset="-122"/>
                <a:cs typeface="Source Han Sans SC" pitchFamily="34" charset="-120"/>
              </a:rPr>
              <a:t>Writing CREATE TABLE SQL</a:t>
            </a:r>
            <a:endParaRPr lang="en-US" sz="1600" dirty="0"/>
          </a:p>
        </p:txBody>
      </p:sp>
      <p:sp>
        <p:nvSpPr>
          <p:cNvPr id="6" name="Text 3"/>
          <p:cNvSpPr/>
          <p:nvPr/>
        </p:nvSpPr>
        <p:spPr>
          <a:xfrm>
            <a:off x="408305" y="1774825"/>
            <a:ext cx="5563870" cy="301625"/>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CREATE TABLE Syntax</a:t>
            </a:r>
            <a:endParaRPr lang="en-US" sz="1600" dirty="0"/>
          </a:p>
        </p:txBody>
      </p:sp>
      <p:sp>
        <p:nvSpPr>
          <p:cNvPr id="7" name="Text 4"/>
          <p:cNvSpPr/>
          <p:nvPr/>
        </p:nvSpPr>
        <p:spPr>
          <a:xfrm>
            <a:off x="336119" y="2097392"/>
            <a:ext cx="5423544" cy="863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The CREATE TABLE statement is used to create a new table in a relational database. It specifies the table name, column names, data types, and constraints.</a:t>
            </a:r>
            <a:endParaRPr lang="en-US" sz="1600" dirty="0"/>
          </a:p>
        </p:txBody>
      </p:sp>
      <p:sp>
        <p:nvSpPr>
          <p:cNvPr id="8" name="Text 5"/>
          <p:cNvSpPr/>
          <p:nvPr/>
        </p:nvSpPr>
        <p:spPr>
          <a:xfrm>
            <a:off x="6861810" y="676275"/>
            <a:ext cx="4965065" cy="301625"/>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Example</a:t>
            </a:r>
            <a:endParaRPr lang="en-US" sz="1600" dirty="0"/>
          </a:p>
        </p:txBody>
      </p:sp>
      <p:sp>
        <p:nvSpPr>
          <p:cNvPr id="9" name="Text 6"/>
          <p:cNvSpPr/>
          <p:nvPr/>
        </p:nvSpPr>
        <p:spPr>
          <a:xfrm>
            <a:off x="6861810" y="998855"/>
            <a:ext cx="4965700" cy="1456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For example, to create a Customers table, you would use the following SQL: CREATE TABLE Customers (CustomerID INT PRIMARY KEY, CustomerName VARCHAR(255), ContactName VARCHAR(255), Country VARCHAR(100));</a:t>
            </a:r>
            <a:endParaRPr lang="en-US" sz="1600" dirty="0"/>
          </a:p>
        </p:txBody>
      </p:sp>
      <p:sp>
        <p:nvSpPr>
          <p:cNvPr id="10" name="Text 7"/>
          <p:cNvSpPr/>
          <p:nvPr/>
        </p:nvSpPr>
        <p:spPr>
          <a:xfrm>
            <a:off x="6857365" y="2708910"/>
            <a:ext cx="4959350" cy="301625"/>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Primary Key</a:t>
            </a:r>
            <a:endParaRPr lang="en-US" sz="1600" dirty="0"/>
          </a:p>
        </p:txBody>
      </p:sp>
      <p:sp>
        <p:nvSpPr>
          <p:cNvPr id="11" name="Text 8"/>
          <p:cNvSpPr/>
          <p:nvPr/>
        </p:nvSpPr>
        <p:spPr>
          <a:xfrm>
            <a:off x="6861810" y="3049905"/>
            <a:ext cx="4965700"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The PRIMARY KEY constraint uniquely identifies each row in a table. It ensures that there are no duplicate records and that each row can be uniquely identified.</a:t>
            </a:r>
            <a:endParaRPr lang="en-US" sz="1600" dirty="0"/>
          </a:p>
        </p:txBody>
      </p:sp>
      <p:sp>
        <p:nvSpPr>
          <p:cNvPr id="12" name="Text 9"/>
          <p:cNvSpPr/>
          <p:nvPr/>
        </p:nvSpPr>
        <p:spPr>
          <a:xfrm>
            <a:off x="6857365" y="4645660"/>
            <a:ext cx="5042535" cy="301625"/>
          </a:xfrm>
          <a:prstGeom prst="rect">
            <a:avLst/>
          </a:prstGeom>
          <a:noFill/>
          <a:ln/>
        </p:spPr>
        <p:txBody>
          <a:bodyPr wrap="square" lIns="91440" tIns="45720" rIns="91440" bIns="45720" rtlCol="0" anchor="t">
            <a:spAutoFit/>
          </a:bodyPr>
          <a:lstStyle/>
          <a:p>
            <a:pP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Data Types</a:t>
            </a:r>
            <a:endParaRPr lang="en-US" sz="1600" dirty="0"/>
          </a:p>
        </p:txBody>
      </p:sp>
      <p:sp>
        <p:nvSpPr>
          <p:cNvPr id="13" name="Text 10"/>
          <p:cNvSpPr/>
          <p:nvPr/>
        </p:nvSpPr>
        <p:spPr>
          <a:xfrm>
            <a:off x="6861810" y="5039995"/>
            <a:ext cx="4965700" cy="1159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Data types define the type of data that can be stored in a column. Common data types include INT for integers, VARCHAR for variable-length character strings, and DATE for dates.</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83904" y="406688"/>
            <a:ext cx="5512096" cy="1280517"/>
          </a:xfrm>
          <a:prstGeom prst="rect">
            <a:avLst/>
          </a:prstGeom>
          <a:noFill/>
          <a:ln/>
        </p:spPr>
        <p:txBody>
          <a:bodyPr wrap="square" lIns="91440" tIns="45720" rIns="91440" bIns="45720" rtlCol="0" anchor="t">
            <a:spAutoFit/>
          </a:bodyPr>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Library Schema Walkthrough</a:t>
            </a:r>
            <a:endParaRPr lang="en-US" sz="1600" dirty="0"/>
          </a:p>
        </p:txBody>
      </p:sp>
      <p:sp>
        <p:nvSpPr>
          <p:cNvPr id="3" name="Shape 1"/>
          <p:cNvSpPr/>
          <p:nvPr/>
        </p:nvSpPr>
        <p:spPr>
          <a:xfrm>
            <a:off x="5757545" y="836930"/>
            <a:ext cx="5850890" cy="741045"/>
          </a:xfrm>
          <a:prstGeom prst="rect">
            <a:avLst/>
          </a:prstGeom>
          <a:solidFill>
            <a:srgbClr val="DAE3F3"/>
          </a:solidFill>
          <a:ln/>
        </p:spPr>
      </p:sp>
      <p:sp>
        <p:nvSpPr>
          <p:cNvPr id="4" name="Text 2"/>
          <p:cNvSpPr/>
          <p:nvPr/>
        </p:nvSpPr>
        <p:spPr>
          <a:xfrm>
            <a:off x="5757545" y="836930"/>
            <a:ext cx="5850890" cy="741045"/>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0" descr="https://kimi-img.moonshot.cn/pub/slides/slides_tmpl/image/25-08-27-20:09:09-d2nfap98bjvh7rlj0icg.jpg"/>
          <p:cNvPicPr>
            <a:picLocks noChangeAspect="1"/>
          </p:cNvPicPr>
          <p:nvPr/>
        </p:nvPicPr>
        <p:blipFill>
          <a:blip r:embed="rId3"/>
          <a:srcRect/>
          <a:stretch/>
        </p:blipFill>
        <p:spPr>
          <a:xfrm>
            <a:off x="767408" y="3133931"/>
            <a:ext cx="10840688" cy="3153933"/>
          </a:xfrm>
          <a:prstGeom prst="rect">
            <a:avLst/>
          </a:prstGeom>
        </p:spPr>
      </p:pic>
      <p:sp>
        <p:nvSpPr>
          <p:cNvPr id="6" name="Text 3"/>
          <p:cNvSpPr/>
          <p:nvPr/>
        </p:nvSpPr>
        <p:spPr>
          <a:xfrm>
            <a:off x="5735955" y="954405"/>
            <a:ext cx="5760720" cy="499745"/>
          </a:xfrm>
          <a:prstGeom prst="rect">
            <a:avLst/>
          </a:prstGeom>
          <a:noFill/>
          <a:ln/>
        </p:spPr>
        <p:txBody>
          <a:bodyPr wrap="square" lIns="91440" tIns="45720" rIns="91440" bIns="45720" rtlCol="0" anchor="ctr"/>
          <a:lstStyle/>
          <a:p>
            <a:pPr>
              <a:lnSpc>
                <a:spcPct val="100000"/>
              </a:lnSpc>
            </a:pPr>
            <a:r>
              <a:rPr lang="en-US" sz="2400" dirty="0">
                <a:solidFill>
                  <a:srgbClr val="000000"/>
                </a:solidFill>
                <a:latin typeface="Source Han Sans SC" pitchFamily="34" charset="0"/>
                <a:ea typeface="Source Han Sans SC" pitchFamily="34" charset="-122"/>
                <a:cs typeface="Source Han Sans SC" pitchFamily="34" charset="-120"/>
              </a:rPr>
              <a:t>Example Schema</a:t>
            </a:r>
            <a:endParaRPr lang="en-US" sz="1600" dirty="0"/>
          </a:p>
        </p:txBody>
      </p:sp>
      <p:sp>
        <p:nvSpPr>
          <p:cNvPr id="7" name="Text 4"/>
          <p:cNvSpPr/>
          <p:nvPr/>
        </p:nvSpPr>
        <p:spPr>
          <a:xfrm>
            <a:off x="5735955" y="1628775"/>
            <a:ext cx="5897245" cy="1330325"/>
          </a:xfrm>
          <a:prstGeom prst="rect">
            <a:avLst/>
          </a:prstGeom>
          <a:noFill/>
          <a:ln/>
        </p:spPr>
        <p:txBody>
          <a:bodyPr wrap="square" lIns="91440" tIns="45720" rIns="91440" bIns="45720" rtlCol="0" anchor="t"/>
          <a:lstStyle/>
          <a:p>
            <a:pPr>
              <a:lnSpc>
                <a:spcPct val="100000"/>
              </a:lnSpc>
            </a:pPr>
            <a:r>
              <a:rPr lang="en-US" sz="1600" dirty="0">
                <a:solidFill>
                  <a:srgbClr val="000000"/>
                </a:solidFill>
                <a:latin typeface="Source Han Sans SC Normal" pitchFamily="34" charset="0"/>
                <a:ea typeface="Source Han Sans SC Normal" pitchFamily="34" charset="-122"/>
                <a:cs typeface="Source Han Sans SC Normal" pitchFamily="34" charset="-120"/>
              </a:rPr>
              <a:t>In a library system, the Books and Authors entities are converted into tables. A foreign-key relationship is established between them to enforce the authorship relationship. This example demonstrates the practical application of ER diagram conversion.</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Design Best Practices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6-d2nfar18bjvh7rlj0iu0.jpg"/>
          <p:cNvPicPr>
            <a:picLocks noChangeAspect="1"/>
          </p:cNvPicPr>
          <p:nvPr/>
        </p:nvPicPr>
        <p:blipFill>
          <a:blip r:embed="rId3"/>
          <a:srcRect/>
          <a:stretch/>
        </p:blipFill>
        <p:spPr>
          <a:xfrm>
            <a:off x="0" y="-1"/>
            <a:ext cx="12192000" cy="6858001"/>
          </a:xfrm>
          <a:prstGeom prst="rect">
            <a:avLst/>
          </a:prstGeom>
        </p:spPr>
      </p:pic>
      <p:sp>
        <p:nvSpPr>
          <p:cNvPr id="3" name="Shape 0"/>
          <p:cNvSpPr/>
          <p:nvPr/>
        </p:nvSpPr>
        <p:spPr>
          <a:xfrm>
            <a:off x="-24680" y="-27384"/>
            <a:ext cx="12232332" cy="6959798"/>
          </a:xfrm>
          <a:prstGeom prst="rect">
            <a:avLst/>
          </a:prstGeom>
          <a:solidFill>
            <a:srgbClr val="333F4F">
              <a:alpha val="47843"/>
            </a:srgbClr>
          </a:solidFill>
          <a:ln/>
        </p:spPr>
      </p:sp>
      <p:sp>
        <p:nvSpPr>
          <p:cNvPr id="4" name="Text 1"/>
          <p:cNvSpPr/>
          <p:nvPr/>
        </p:nvSpPr>
        <p:spPr>
          <a:xfrm>
            <a:off x="-24680" y="-27384"/>
            <a:ext cx="12232332" cy="6959798"/>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1" descr="https://kimi-img.moonshot.cn/pub/slides/slides_tmpl/image/25-08-27-20:09:12-d2nfaq18bjvh7rlj0ing.png"/>
          <p:cNvPicPr>
            <a:picLocks noChangeAspect="1"/>
          </p:cNvPicPr>
          <p:nvPr/>
        </p:nvPicPr>
        <p:blipFill>
          <a:blip r:embed="rId4"/>
          <a:stretch>
            <a:fillRect/>
          </a:stretch>
        </p:blipFill>
        <p:spPr>
          <a:xfrm>
            <a:off x="0" y="4149080"/>
            <a:ext cx="12192000" cy="1561981"/>
          </a:xfrm>
          <a:prstGeom prst="rect">
            <a:avLst/>
          </a:prstGeom>
        </p:spPr>
      </p:pic>
      <p:sp>
        <p:nvSpPr>
          <p:cNvPr id="6" name="Shape 2"/>
          <p:cNvSpPr/>
          <p:nvPr/>
        </p:nvSpPr>
        <p:spPr>
          <a:xfrm rot="10800000">
            <a:off x="1948002" y="4932990"/>
            <a:ext cx="360039" cy="296210"/>
          </a:xfrm>
          <a:prstGeom prst="triangle">
            <a:avLst>
              <a:gd name="adj" fmla="val 50000"/>
            </a:avLst>
          </a:prstGeom>
          <a:solidFill>
            <a:srgbClr val="FFFFFF"/>
          </a:solidFill>
          <a:ln/>
        </p:spPr>
      </p:sp>
      <p:sp>
        <p:nvSpPr>
          <p:cNvPr id="7" name="Text 3"/>
          <p:cNvSpPr/>
          <p:nvPr/>
        </p:nvSpPr>
        <p:spPr>
          <a:xfrm rot="10800000">
            <a:off x="1948002" y="493299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1948003" y="4767462"/>
            <a:ext cx="360039" cy="63731"/>
          </a:xfrm>
          <a:prstGeom prst="rect">
            <a:avLst/>
          </a:prstGeom>
          <a:solidFill>
            <a:srgbClr val="C2F5E0"/>
          </a:solidFill>
          <a:ln/>
        </p:spPr>
      </p:sp>
      <p:sp>
        <p:nvSpPr>
          <p:cNvPr id="9" name="Text 5"/>
          <p:cNvSpPr/>
          <p:nvPr/>
        </p:nvSpPr>
        <p:spPr>
          <a:xfrm>
            <a:off x="1948003" y="476746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rot="10800000">
            <a:off x="5928324" y="3759222"/>
            <a:ext cx="360039" cy="296210"/>
          </a:xfrm>
          <a:prstGeom prst="triangle">
            <a:avLst>
              <a:gd name="adj" fmla="val 50000"/>
            </a:avLst>
          </a:prstGeom>
          <a:solidFill>
            <a:srgbClr val="FFFFFF"/>
          </a:solidFill>
          <a:ln/>
        </p:spPr>
      </p:sp>
      <p:sp>
        <p:nvSpPr>
          <p:cNvPr id="11" name="Text 7"/>
          <p:cNvSpPr/>
          <p:nvPr/>
        </p:nvSpPr>
        <p:spPr>
          <a:xfrm rot="10800000">
            <a:off x="5928324" y="3759222"/>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8"/>
          <p:cNvSpPr/>
          <p:nvPr/>
        </p:nvSpPr>
        <p:spPr>
          <a:xfrm>
            <a:off x="5928325" y="3593694"/>
            <a:ext cx="360039" cy="63731"/>
          </a:xfrm>
          <a:prstGeom prst="rect">
            <a:avLst/>
          </a:prstGeom>
          <a:solidFill>
            <a:srgbClr val="C2F5E0"/>
          </a:solidFill>
          <a:ln/>
        </p:spPr>
      </p:sp>
      <p:sp>
        <p:nvSpPr>
          <p:cNvPr id="13" name="Text 9"/>
          <p:cNvSpPr/>
          <p:nvPr/>
        </p:nvSpPr>
        <p:spPr>
          <a:xfrm>
            <a:off x="5928325" y="3593694"/>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0"/>
          <p:cNvSpPr/>
          <p:nvPr/>
        </p:nvSpPr>
        <p:spPr>
          <a:xfrm rot="10800000">
            <a:off x="9908654" y="4386616"/>
            <a:ext cx="360039" cy="296210"/>
          </a:xfrm>
          <a:prstGeom prst="triangle">
            <a:avLst>
              <a:gd name="adj" fmla="val 50000"/>
            </a:avLst>
          </a:prstGeom>
          <a:solidFill>
            <a:srgbClr val="FFFFFF"/>
          </a:solidFill>
          <a:ln/>
        </p:spPr>
      </p:sp>
      <p:sp>
        <p:nvSpPr>
          <p:cNvPr id="15" name="Text 11"/>
          <p:cNvSpPr/>
          <p:nvPr/>
        </p:nvSpPr>
        <p:spPr>
          <a:xfrm rot="10800000">
            <a:off x="9908654" y="4386616"/>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2"/>
          <p:cNvSpPr/>
          <p:nvPr/>
        </p:nvSpPr>
        <p:spPr>
          <a:xfrm>
            <a:off x="9908655" y="4221088"/>
            <a:ext cx="360039" cy="63731"/>
          </a:xfrm>
          <a:prstGeom prst="rect">
            <a:avLst/>
          </a:prstGeom>
          <a:solidFill>
            <a:srgbClr val="C2F5E0"/>
          </a:solidFill>
          <a:ln/>
        </p:spPr>
      </p:sp>
      <p:sp>
        <p:nvSpPr>
          <p:cNvPr id="17" name="Text 13"/>
          <p:cNvSpPr/>
          <p:nvPr/>
        </p:nvSpPr>
        <p:spPr>
          <a:xfrm>
            <a:off x="9908655" y="4221088"/>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4"/>
          <p:cNvSpPr/>
          <p:nvPr/>
        </p:nvSpPr>
        <p:spPr>
          <a:xfrm>
            <a:off x="1858496" y="5783053"/>
            <a:ext cx="8352928" cy="673100"/>
          </a:xfrm>
          <a:prstGeom prst="rect">
            <a:avLst/>
          </a:prstGeom>
          <a:noFill/>
          <a:ln/>
        </p:spPr>
        <p:txBody>
          <a:bodyPr wrap="square" lIns="91440" tIns="45720" rIns="91440" bIns="45720" rtlCol="0" anchor="t">
            <a:spAutoFit/>
          </a:bodyPr>
          <a:lstStyle/>
          <a:p>
            <a:pPr algn="ct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Enforcing Integrity Constraints</a:t>
            </a:r>
            <a:endParaRPr lang="en-US" sz="1600" dirty="0"/>
          </a:p>
        </p:txBody>
      </p:sp>
      <p:sp>
        <p:nvSpPr>
          <p:cNvPr id="19" name="Shape 15"/>
          <p:cNvSpPr/>
          <p:nvPr/>
        </p:nvSpPr>
        <p:spPr>
          <a:xfrm>
            <a:off x="5699956" y="5462750"/>
            <a:ext cx="792088" cy="53532"/>
          </a:xfrm>
          <a:prstGeom prst="rect">
            <a:avLst/>
          </a:prstGeom>
          <a:solidFill>
            <a:srgbClr val="FFFFFF"/>
          </a:solidFill>
          <a:ln/>
        </p:spPr>
      </p:sp>
      <p:sp>
        <p:nvSpPr>
          <p:cNvPr id="20" name="Text 16"/>
          <p:cNvSpPr/>
          <p:nvPr/>
        </p:nvSpPr>
        <p:spPr>
          <a:xfrm>
            <a:off x="5699956" y="5462750"/>
            <a:ext cx="792088" cy="53532"/>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7"/>
          <p:cNvSpPr/>
          <p:nvPr/>
        </p:nvSpPr>
        <p:spPr>
          <a:xfrm>
            <a:off x="4079776" y="1107270"/>
            <a:ext cx="0" cy="2740316"/>
          </a:xfrm>
          <a:prstGeom prst="straightConnector1">
            <a:avLst/>
          </a:prstGeom>
          <a:noFill/>
          <a:ln w="31750">
            <a:solidFill>
              <a:srgbClr val="C2F5E1">
                <a:alpha val="38824"/>
              </a:srgbClr>
            </a:solidFill>
            <a:prstDash val="solid"/>
            <a:headEnd type="none"/>
            <a:tailEnd type="triangle"/>
          </a:ln>
        </p:spPr>
      </p:sp>
      <p:sp>
        <p:nvSpPr>
          <p:cNvPr id="22" name="Shape 18"/>
          <p:cNvSpPr/>
          <p:nvPr/>
        </p:nvSpPr>
        <p:spPr>
          <a:xfrm>
            <a:off x="8060105" y="963760"/>
            <a:ext cx="0" cy="2740316"/>
          </a:xfrm>
          <a:prstGeom prst="straightConnector1">
            <a:avLst/>
          </a:prstGeom>
          <a:noFill/>
          <a:ln w="31750">
            <a:solidFill>
              <a:srgbClr val="C2F5E1">
                <a:alpha val="38824"/>
              </a:srgbClr>
            </a:solidFill>
            <a:prstDash val="solid"/>
            <a:headEnd type="none"/>
            <a:tailEnd type="triangle"/>
          </a:ln>
        </p:spPr>
      </p:sp>
      <p:pic>
        <p:nvPicPr>
          <p:cNvPr id="23" name="Image 2" descr="https://kimi-img.moonshot.cn/pub/slides/slides_tmpl/image/25-08-27-20:09:11-d2nfapp8bjvh7rlj0ilg.png"/>
          <p:cNvPicPr>
            <a:picLocks noChangeAspect="1"/>
          </p:cNvPicPr>
          <p:nvPr/>
        </p:nvPicPr>
        <p:blipFill>
          <a:blip r:embed="rId5"/>
          <a:stretch>
            <a:fillRect/>
          </a:stretch>
        </p:blipFill>
        <p:spPr>
          <a:xfrm>
            <a:off x="1784985" y="1536700"/>
            <a:ext cx="718185" cy="546100"/>
          </a:xfrm>
          <a:prstGeom prst="rect">
            <a:avLst/>
          </a:prstGeom>
        </p:spPr>
      </p:pic>
      <p:pic>
        <p:nvPicPr>
          <p:cNvPr id="24" name="Image 3" descr="https://kimi-img.moonshot.cn/pub/slides/slides_tmpl/image/25-08-27-20:09:11-d2nfapp8bjvh7rlj0im0.png"/>
          <p:cNvPicPr>
            <a:picLocks noChangeAspect="1"/>
          </p:cNvPicPr>
          <p:nvPr/>
        </p:nvPicPr>
        <p:blipFill>
          <a:blip r:embed="rId6"/>
          <a:stretch>
            <a:fillRect/>
          </a:stretch>
        </p:blipFill>
        <p:spPr>
          <a:xfrm>
            <a:off x="5716270" y="234950"/>
            <a:ext cx="764540" cy="581025"/>
          </a:xfrm>
          <a:prstGeom prst="rect">
            <a:avLst/>
          </a:prstGeom>
        </p:spPr>
      </p:pic>
      <p:pic>
        <p:nvPicPr>
          <p:cNvPr id="25" name="Image 4" descr="https://kimi-img.moonshot.cn/pub/slides/slides_tmpl/image/25-08-27-20:09:11-d2nfapp8bjvh7rlj0img.png"/>
          <p:cNvPicPr>
            <a:picLocks noChangeAspect="1"/>
          </p:cNvPicPr>
          <p:nvPr/>
        </p:nvPicPr>
        <p:blipFill>
          <a:blip r:embed="rId7"/>
          <a:stretch>
            <a:fillRect/>
          </a:stretch>
        </p:blipFill>
        <p:spPr>
          <a:xfrm>
            <a:off x="9665335" y="982980"/>
            <a:ext cx="717550" cy="545465"/>
          </a:xfrm>
          <a:prstGeom prst="rect">
            <a:avLst/>
          </a:prstGeom>
        </p:spPr>
      </p:pic>
      <p:sp>
        <p:nvSpPr>
          <p:cNvPr id="26" name="Text 19"/>
          <p:cNvSpPr/>
          <p:nvPr/>
        </p:nvSpPr>
        <p:spPr>
          <a:xfrm>
            <a:off x="354330" y="2011045"/>
            <a:ext cx="3538220"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Primary Key</a:t>
            </a:r>
            <a:endParaRPr lang="en-US" sz="1600" dirty="0"/>
          </a:p>
        </p:txBody>
      </p:sp>
      <p:sp>
        <p:nvSpPr>
          <p:cNvPr id="27" name="Text 20"/>
          <p:cNvSpPr/>
          <p:nvPr/>
        </p:nvSpPr>
        <p:spPr>
          <a:xfrm>
            <a:off x="577850" y="2434590"/>
            <a:ext cx="3090545" cy="1752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A primary key uniquely identifies each row in a table. It ensures that there are no duplicate records, maintaining data integrity and consistency.</a:t>
            </a:r>
            <a:endParaRPr lang="en-US" sz="1600" dirty="0"/>
          </a:p>
        </p:txBody>
      </p:sp>
      <p:sp>
        <p:nvSpPr>
          <p:cNvPr id="28" name="Text 21"/>
          <p:cNvSpPr/>
          <p:nvPr/>
        </p:nvSpPr>
        <p:spPr>
          <a:xfrm>
            <a:off x="4079875" y="765810"/>
            <a:ext cx="397954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Foreign Key</a:t>
            </a:r>
            <a:endParaRPr lang="en-US" sz="1600" dirty="0"/>
          </a:p>
        </p:txBody>
      </p:sp>
      <p:sp>
        <p:nvSpPr>
          <p:cNvPr id="29" name="Text 22"/>
          <p:cNvSpPr/>
          <p:nvPr/>
        </p:nvSpPr>
        <p:spPr>
          <a:xfrm>
            <a:off x="4468495" y="1188720"/>
            <a:ext cx="3231515" cy="1752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Foreign keys maintain referential integrity between tables. They ensure that relationships between tables are valid and that data remains consistent across the database.</a:t>
            </a:r>
            <a:endParaRPr lang="en-US" sz="1600" dirty="0"/>
          </a:p>
        </p:txBody>
      </p:sp>
      <p:sp>
        <p:nvSpPr>
          <p:cNvPr id="30" name="Text 23"/>
          <p:cNvSpPr/>
          <p:nvPr/>
        </p:nvSpPr>
        <p:spPr>
          <a:xfrm>
            <a:off x="8275320" y="1451610"/>
            <a:ext cx="344868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C2F5E1"/>
                </a:solidFill>
                <a:latin typeface="Source Han Sans SC" pitchFamily="34" charset="0"/>
                <a:ea typeface="Source Han Sans SC" pitchFamily="34" charset="-122"/>
                <a:cs typeface="Source Han Sans SC" pitchFamily="34" charset="-120"/>
              </a:rPr>
              <a:t>Other Constraints</a:t>
            </a:r>
            <a:endParaRPr lang="en-US" sz="1600" dirty="0"/>
          </a:p>
        </p:txBody>
      </p:sp>
      <p:sp>
        <p:nvSpPr>
          <p:cNvPr id="31" name="Text 24"/>
          <p:cNvSpPr/>
          <p:nvPr/>
        </p:nvSpPr>
        <p:spPr>
          <a:xfrm>
            <a:off x="8431530" y="1874520"/>
            <a:ext cx="3185160" cy="1752600"/>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Other constraints like NOT NULL and UNIQUE ensure that fields have mandatory values and that all values in a column are distinct. These constraints help maintain data quality.</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47971" y="819082"/>
            <a:ext cx="4677917" cy="5490238"/>
          </a:xfrm>
          <a:prstGeom prst="rect">
            <a:avLst/>
          </a:prstGeom>
          <a:solidFill>
            <a:srgbClr val="161616"/>
          </a:solidFill>
          <a:ln/>
        </p:spPr>
      </p:sp>
      <p:sp>
        <p:nvSpPr>
          <p:cNvPr id="3" name="Text 1"/>
          <p:cNvSpPr/>
          <p:nvPr/>
        </p:nvSpPr>
        <p:spPr>
          <a:xfrm>
            <a:off x="6847971" y="819082"/>
            <a:ext cx="4677917" cy="5490238"/>
          </a:xfrm>
          <a:prstGeom prst="rect">
            <a:avLst/>
          </a:prstGeom>
          <a:noFill/>
          <a:ln/>
        </p:spPr>
        <p:txBody>
          <a:bodyPr wrap="square" lIns="45720" tIns="91440" rIns="91440" bIns="45720" rtlCol="0" anchor="ctr"/>
          <a:lstStyle/>
          <a:p>
            <a:pPr>
              <a:lnSpc>
                <a:spcPct val="100000"/>
              </a:lnSpc>
            </a:pPr>
            <a:endParaRPr lang="en-US" sz="1600" dirty="0"/>
          </a:p>
        </p:txBody>
      </p:sp>
      <p:sp>
        <p:nvSpPr>
          <p:cNvPr id="4" name="Text 2"/>
          <p:cNvSpPr/>
          <p:nvPr/>
        </p:nvSpPr>
        <p:spPr>
          <a:xfrm>
            <a:off x="663575" y="5517515"/>
            <a:ext cx="6209030" cy="780415"/>
          </a:xfrm>
          <a:prstGeom prst="rect">
            <a:avLst/>
          </a:prstGeom>
          <a:noFill/>
          <a:ln/>
        </p:spPr>
        <p:txBody>
          <a:bodyPr wrap="square" lIns="91440" tIns="45720" rIns="91440" bIns="45720" rtlCol="0" anchor="b"/>
          <a:lstStyle/>
          <a:p>
            <a:pPr>
              <a:lnSpc>
                <a:spcPct val="100000"/>
              </a:lnSpc>
            </a:pPr>
            <a:r>
              <a:rPr lang="en-US" sz="3600" dirty="0">
                <a:solidFill>
                  <a:srgbClr val="000000"/>
                </a:solidFill>
                <a:latin typeface="Source Han Sans SC" pitchFamily="34" charset="0"/>
                <a:ea typeface="Source Han Sans SC" pitchFamily="34" charset="-122"/>
                <a:cs typeface="Source Han Sans SC" pitchFamily="34" charset="-120"/>
              </a:rPr>
              <a:t>Indexing for Query Speed</a:t>
            </a:r>
            <a:endParaRPr lang="en-US" sz="1600" dirty="0"/>
          </a:p>
        </p:txBody>
      </p:sp>
      <p:pic>
        <p:nvPicPr>
          <p:cNvPr id="5" name="Image 0" descr="https://kimi-img.moonshot.cn/pub/slides/slides_tmpl/image/25-08-27-20:09:07-d2nfaop8bjvh7rlj0i9g.jpg"/>
          <p:cNvPicPr>
            <a:picLocks noChangeAspect="1"/>
          </p:cNvPicPr>
          <p:nvPr/>
        </p:nvPicPr>
        <p:blipFill>
          <a:blip r:embed="rId3"/>
          <a:stretch>
            <a:fillRect/>
          </a:stretch>
        </p:blipFill>
        <p:spPr>
          <a:xfrm>
            <a:off x="1797445" y="1597073"/>
            <a:ext cx="4697341" cy="2642254"/>
          </a:xfrm>
          <a:prstGeom prst="rect">
            <a:avLst/>
          </a:prstGeom>
        </p:spPr>
      </p:pic>
      <p:sp>
        <p:nvSpPr>
          <p:cNvPr id="6" name="Shape 3"/>
          <p:cNvSpPr/>
          <p:nvPr/>
        </p:nvSpPr>
        <p:spPr>
          <a:xfrm>
            <a:off x="767408" y="1597073"/>
            <a:ext cx="1030037" cy="631057"/>
          </a:xfrm>
          <a:prstGeom prst="rect">
            <a:avLst/>
          </a:prstGeom>
          <a:solidFill>
            <a:srgbClr val="9DB4E0"/>
          </a:solidFill>
          <a:ln/>
        </p:spPr>
      </p:sp>
      <p:sp>
        <p:nvSpPr>
          <p:cNvPr id="7" name="Text 4"/>
          <p:cNvSpPr/>
          <p:nvPr/>
        </p:nvSpPr>
        <p:spPr>
          <a:xfrm>
            <a:off x="767408" y="1597073"/>
            <a:ext cx="1030037" cy="631057"/>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1127448" y="1916832"/>
            <a:ext cx="288032" cy="0"/>
          </a:xfrm>
          <a:prstGeom prst="straightConnector1">
            <a:avLst/>
          </a:prstGeom>
          <a:noFill/>
          <a:ln w="19050">
            <a:solidFill>
              <a:srgbClr val="000000"/>
            </a:solidFill>
            <a:prstDash val="solid"/>
            <a:headEnd type="none"/>
            <a:tailEnd type="triangle"/>
          </a:ln>
        </p:spPr>
      </p:sp>
      <p:sp>
        <p:nvSpPr>
          <p:cNvPr id="9" name="Text 6"/>
          <p:cNvSpPr/>
          <p:nvPr/>
        </p:nvSpPr>
        <p:spPr>
          <a:xfrm>
            <a:off x="6892290" y="1269365"/>
            <a:ext cx="4576445" cy="718185"/>
          </a:xfrm>
          <a:prstGeom prst="rect">
            <a:avLst/>
          </a:prstGeom>
          <a:noFill/>
          <a:ln/>
        </p:spPr>
        <p:txBody>
          <a:bodyPr wrap="square" lIns="91440" tIns="45720" rIns="91440" bIns="45720" rtlCol="0" anchor="b"/>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Purpose of Indexing</a:t>
            </a:r>
            <a:endParaRPr lang="en-US" sz="1600" dirty="0"/>
          </a:p>
        </p:txBody>
      </p:sp>
      <p:sp>
        <p:nvSpPr>
          <p:cNvPr id="10" name="Text 7"/>
          <p:cNvSpPr/>
          <p:nvPr/>
        </p:nvSpPr>
        <p:spPr>
          <a:xfrm>
            <a:off x="7024688" y="2030506"/>
            <a:ext cx="4263303" cy="1456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Indexes optimize the retrieval of data by providing a faster lookup mechanism. They are particularly useful for columns frequently used in WHERE, JOIN, and ORDER BY clauses.</a:t>
            </a:r>
            <a:endParaRPr lang="en-US" sz="1600" dirty="0"/>
          </a:p>
        </p:txBody>
      </p:sp>
      <p:sp>
        <p:nvSpPr>
          <p:cNvPr id="11" name="Text 8"/>
          <p:cNvSpPr/>
          <p:nvPr/>
        </p:nvSpPr>
        <p:spPr>
          <a:xfrm>
            <a:off x="6882130" y="4077335"/>
            <a:ext cx="4504055" cy="402034"/>
          </a:xfrm>
          <a:prstGeom prst="rect">
            <a:avLst/>
          </a:prstGeom>
          <a:noFill/>
          <a:ln/>
        </p:spPr>
        <p:txBody>
          <a:bodyPr wrap="square" lIns="91440" tIns="45720" rIns="91440" bIns="45720" rtlCol="0" anchor="b">
            <a:spAutoFit/>
          </a:bodyPr>
          <a:lstStyle/>
          <a:p>
            <a:pPr algn="ctr">
              <a:lnSpc>
                <a:spcPct val="100000"/>
              </a:lnSpc>
            </a:pPr>
            <a:r>
              <a:rPr lang="en-US" sz="2400" dirty="0">
                <a:solidFill>
                  <a:srgbClr val="FFFFFF"/>
                </a:solidFill>
                <a:latin typeface="Source Han Sans SC" pitchFamily="34" charset="0"/>
                <a:ea typeface="Source Han Sans SC" pitchFamily="34" charset="-122"/>
                <a:cs typeface="Source Han Sans SC" pitchFamily="34" charset="-120"/>
              </a:rPr>
              <a:t>Balancing Indexes</a:t>
            </a:r>
            <a:endParaRPr lang="en-US" sz="1600" dirty="0"/>
          </a:p>
        </p:txBody>
      </p:sp>
      <p:sp>
        <p:nvSpPr>
          <p:cNvPr id="12" name="Text 9"/>
          <p:cNvSpPr/>
          <p:nvPr/>
        </p:nvSpPr>
        <p:spPr>
          <a:xfrm>
            <a:off x="7024688" y="4540101"/>
            <a:ext cx="4263303" cy="1456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Normal" pitchFamily="34" charset="0"/>
                <a:ea typeface="Source Han Sans SC Normal" pitchFamily="34" charset="-122"/>
                <a:cs typeface="Source Han Sans SC Normal" pitchFamily="34" charset="-120"/>
              </a:rPr>
              <a:t>While indexes improve query performance, they can slow down write operations. It is important to balance the number of indexes to ensure optimal performance for both read and write operations.</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1180" y="2952115"/>
            <a:ext cx="588708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000000"/>
                </a:solidFill>
                <a:latin typeface="Source Han Sans SC" pitchFamily="34" charset="0"/>
                <a:ea typeface="Source Han Sans SC" pitchFamily="34" charset="-122"/>
                <a:cs typeface="Source Han Sans SC" pitchFamily="34" charset="-120"/>
              </a:rPr>
              <a:t>Wrap-Up &amp; Next Steps</a:t>
            </a:r>
            <a:endParaRPr lang="en-US" sz="1600" dirty="0"/>
          </a:p>
        </p:txBody>
      </p:sp>
      <p:sp>
        <p:nvSpPr>
          <p:cNvPr id="3" name="Shape 1"/>
          <p:cNvSpPr/>
          <p:nvPr/>
        </p:nvSpPr>
        <p:spPr>
          <a:xfrm>
            <a:off x="711202" y="786574"/>
            <a:ext cx="3434078" cy="0"/>
          </a:xfrm>
          <a:prstGeom prst="line">
            <a:avLst/>
          </a:prstGeom>
          <a:noFill/>
          <a:ln w="15875">
            <a:solidFill>
              <a:srgbClr val="000000"/>
            </a:solidFill>
            <a:prstDash val="solid"/>
            <a:headEnd type="none"/>
            <a:tailEnd type="none"/>
          </a:ln>
        </p:spPr>
      </p:sp>
      <p:pic>
        <p:nvPicPr>
          <p:cNvPr id="4" name="Image 0" descr="https://kimi-img.moonshot.cn/pub/slides/slides_tmpl/image/25-08-27-20:09:03-d2nfanp8bjvh7rlj0i40.jpg"/>
          <p:cNvPicPr>
            <a:picLocks noChangeAspect="1"/>
          </p:cNvPicPr>
          <p:nvPr/>
        </p:nvPicPr>
        <p:blipFill>
          <a:blip r:embed="rId3"/>
          <a:stretch>
            <a:fillRect/>
          </a:stretch>
        </p:blipFill>
        <p:spPr>
          <a:xfrm>
            <a:off x="8046721" y="1008555"/>
            <a:ext cx="3553129" cy="5196386"/>
          </a:xfrm>
          <a:prstGeom prst="rect">
            <a:avLst/>
          </a:prstGeom>
        </p:spPr>
      </p:pic>
      <p:pic>
        <p:nvPicPr>
          <p:cNvPr id="5" name="Image 1" descr="https://kimi-img.moonshot.cn/pub/slides/slides_tmpl/image/25-08-27-20:09:03-d2nfanp8bjvh7rlj0i3g.png"/>
          <p:cNvPicPr>
            <a:picLocks noChangeAspect="1"/>
          </p:cNvPicPr>
          <p:nvPr/>
        </p:nvPicPr>
        <p:blipFill>
          <a:blip r:embed="rId4"/>
          <a:srcRect r="60768" b="-4844"/>
          <a:stretch/>
        </p:blipFill>
        <p:spPr>
          <a:xfrm>
            <a:off x="551180" y="404495"/>
            <a:ext cx="4320336" cy="503981"/>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slides_tmpl/image/25-08-27-20:09:16-d2nfar18bjvh7rlj0iu0.jpg"/>
          <p:cNvPicPr>
            <a:picLocks noChangeAspect="1"/>
          </p:cNvPicPr>
          <p:nvPr/>
        </p:nvPicPr>
        <p:blipFill>
          <a:blip r:embed="rId3"/>
          <a:srcRect/>
          <a:stretch/>
        </p:blipFill>
        <p:spPr>
          <a:xfrm>
            <a:off x="0" y="-1"/>
            <a:ext cx="12192000" cy="6858001"/>
          </a:xfrm>
          <a:prstGeom prst="rect">
            <a:avLst/>
          </a:prstGeom>
        </p:spPr>
      </p:pic>
      <p:sp>
        <p:nvSpPr>
          <p:cNvPr id="3" name="Shape 0"/>
          <p:cNvSpPr/>
          <p:nvPr/>
        </p:nvSpPr>
        <p:spPr>
          <a:xfrm>
            <a:off x="-40332" y="-62186"/>
            <a:ext cx="12232332" cy="6959798"/>
          </a:xfrm>
          <a:prstGeom prst="rect">
            <a:avLst/>
          </a:prstGeom>
          <a:solidFill>
            <a:srgbClr val="333F4F">
              <a:alpha val="47843"/>
            </a:srgbClr>
          </a:solidFill>
          <a:ln/>
        </p:spPr>
      </p:sp>
      <p:sp>
        <p:nvSpPr>
          <p:cNvPr id="4" name="Text 1"/>
          <p:cNvSpPr/>
          <p:nvPr/>
        </p:nvSpPr>
        <p:spPr>
          <a:xfrm>
            <a:off x="-40332" y="-62186"/>
            <a:ext cx="12232332" cy="6959798"/>
          </a:xfrm>
          <a:prstGeom prst="rect">
            <a:avLst/>
          </a:prstGeom>
          <a:noFill/>
          <a:ln/>
        </p:spPr>
        <p:txBody>
          <a:bodyPr wrap="square" lIns="45720" tIns="91440" rIns="91440" bIns="45720" rtlCol="0" anchor="ctr"/>
          <a:lstStyle/>
          <a:p>
            <a:pPr>
              <a:lnSpc>
                <a:spcPct val="100000"/>
              </a:lnSpc>
            </a:pPr>
            <a:endParaRPr lang="en-US" sz="1600" dirty="0"/>
          </a:p>
        </p:txBody>
      </p:sp>
      <p:pic>
        <p:nvPicPr>
          <p:cNvPr id="5" name="Image 1" descr="https://kimi-img.moonshot.cn/pub/slides/slides_tmpl/image/25-08-27-20:09:12-d2nfaq18bjvh7rlj0ing.png"/>
          <p:cNvPicPr>
            <a:picLocks noChangeAspect="1"/>
          </p:cNvPicPr>
          <p:nvPr/>
        </p:nvPicPr>
        <p:blipFill>
          <a:blip r:embed="rId4"/>
          <a:stretch>
            <a:fillRect/>
          </a:stretch>
        </p:blipFill>
        <p:spPr>
          <a:xfrm>
            <a:off x="0" y="4149080"/>
            <a:ext cx="12192000" cy="1561981"/>
          </a:xfrm>
          <a:prstGeom prst="rect">
            <a:avLst/>
          </a:prstGeom>
        </p:spPr>
      </p:pic>
      <p:sp>
        <p:nvSpPr>
          <p:cNvPr id="6" name="Text 2"/>
          <p:cNvSpPr/>
          <p:nvPr/>
        </p:nvSpPr>
        <p:spPr>
          <a:xfrm>
            <a:off x="1858496" y="5711298"/>
            <a:ext cx="8352928" cy="673100"/>
          </a:xfrm>
          <a:prstGeom prst="rect">
            <a:avLst/>
          </a:prstGeom>
          <a:noFill/>
          <a:ln/>
        </p:spPr>
        <p:txBody>
          <a:bodyPr wrap="square" lIns="91440" tIns="45720" rIns="91440" bIns="45720" rtlCol="0" anchor="t">
            <a:spAutoFit/>
          </a:bodyPr>
          <a:lstStyle/>
          <a:p>
            <a:pPr algn="ctr">
              <a:lnSpc>
                <a:spcPct val="100000"/>
              </a:lnSpc>
            </a:pPr>
            <a:r>
              <a:rPr lang="en-US" sz="4000" dirty="0">
                <a:solidFill>
                  <a:srgbClr val="FFFFFF"/>
                </a:solidFill>
                <a:latin typeface="Source Han Sans SC Medium" pitchFamily="34" charset="0"/>
                <a:ea typeface="Source Han Sans SC Medium" pitchFamily="34" charset="-122"/>
                <a:cs typeface="Source Han Sans SC Medium" pitchFamily="34" charset="-120"/>
              </a:rPr>
              <a:t>Key Takeaways Review</a:t>
            </a:r>
            <a:endParaRPr lang="en-US" sz="1600" dirty="0"/>
          </a:p>
        </p:txBody>
      </p:sp>
      <p:sp>
        <p:nvSpPr>
          <p:cNvPr id="7" name="Shape 3"/>
          <p:cNvSpPr/>
          <p:nvPr/>
        </p:nvSpPr>
        <p:spPr>
          <a:xfrm>
            <a:off x="5699956" y="5462750"/>
            <a:ext cx="792088" cy="53532"/>
          </a:xfrm>
          <a:prstGeom prst="rect">
            <a:avLst/>
          </a:prstGeom>
          <a:solidFill>
            <a:srgbClr val="FFFFFF"/>
          </a:solidFill>
          <a:ln/>
        </p:spPr>
      </p:sp>
      <p:sp>
        <p:nvSpPr>
          <p:cNvPr id="8" name="Text 4"/>
          <p:cNvSpPr/>
          <p:nvPr/>
        </p:nvSpPr>
        <p:spPr>
          <a:xfrm>
            <a:off x="5699956" y="5462750"/>
            <a:ext cx="792088" cy="53532"/>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5"/>
          <p:cNvSpPr/>
          <p:nvPr/>
        </p:nvSpPr>
        <p:spPr>
          <a:xfrm rot="10800000">
            <a:off x="1497429" y="4572950"/>
            <a:ext cx="360039" cy="296210"/>
          </a:xfrm>
          <a:prstGeom prst="triangle">
            <a:avLst>
              <a:gd name="adj" fmla="val 50000"/>
            </a:avLst>
          </a:prstGeom>
          <a:solidFill>
            <a:srgbClr val="FFFFFF"/>
          </a:solidFill>
          <a:ln/>
        </p:spPr>
      </p:sp>
      <p:sp>
        <p:nvSpPr>
          <p:cNvPr id="10" name="Text 6"/>
          <p:cNvSpPr/>
          <p:nvPr/>
        </p:nvSpPr>
        <p:spPr>
          <a:xfrm rot="10800000">
            <a:off x="1497429" y="457295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7"/>
          <p:cNvSpPr/>
          <p:nvPr/>
        </p:nvSpPr>
        <p:spPr>
          <a:xfrm>
            <a:off x="1497430" y="4407422"/>
            <a:ext cx="360039" cy="63731"/>
          </a:xfrm>
          <a:prstGeom prst="rect">
            <a:avLst/>
          </a:prstGeom>
          <a:solidFill>
            <a:srgbClr val="9DB4E1"/>
          </a:solidFill>
          <a:ln/>
        </p:spPr>
      </p:sp>
      <p:sp>
        <p:nvSpPr>
          <p:cNvPr id="12" name="Text 8"/>
          <p:cNvSpPr/>
          <p:nvPr/>
        </p:nvSpPr>
        <p:spPr>
          <a:xfrm>
            <a:off x="1497430" y="440742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9"/>
          <p:cNvSpPr/>
          <p:nvPr/>
        </p:nvSpPr>
        <p:spPr>
          <a:xfrm rot="10800000">
            <a:off x="4448201" y="3412513"/>
            <a:ext cx="360039" cy="296210"/>
          </a:xfrm>
          <a:prstGeom prst="triangle">
            <a:avLst>
              <a:gd name="adj" fmla="val 50000"/>
            </a:avLst>
          </a:prstGeom>
          <a:solidFill>
            <a:srgbClr val="FFFFFF"/>
          </a:solidFill>
          <a:ln/>
        </p:spPr>
      </p:sp>
      <p:sp>
        <p:nvSpPr>
          <p:cNvPr id="14" name="Text 10"/>
          <p:cNvSpPr/>
          <p:nvPr/>
        </p:nvSpPr>
        <p:spPr>
          <a:xfrm rot="10800000">
            <a:off x="4448201" y="3412513"/>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5" name="Shape 11"/>
          <p:cNvSpPr/>
          <p:nvPr/>
        </p:nvSpPr>
        <p:spPr>
          <a:xfrm>
            <a:off x="4448202" y="3246985"/>
            <a:ext cx="360039" cy="63731"/>
          </a:xfrm>
          <a:prstGeom prst="rect">
            <a:avLst/>
          </a:prstGeom>
          <a:solidFill>
            <a:srgbClr val="9DB4E1"/>
          </a:solidFill>
          <a:ln/>
        </p:spPr>
      </p:sp>
      <p:sp>
        <p:nvSpPr>
          <p:cNvPr id="16" name="Text 12"/>
          <p:cNvSpPr/>
          <p:nvPr/>
        </p:nvSpPr>
        <p:spPr>
          <a:xfrm>
            <a:off x="4448202" y="3246985"/>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3"/>
          <p:cNvSpPr/>
          <p:nvPr/>
        </p:nvSpPr>
        <p:spPr>
          <a:xfrm rot="10800000">
            <a:off x="7438780" y="3410477"/>
            <a:ext cx="360039" cy="296210"/>
          </a:xfrm>
          <a:prstGeom prst="triangle">
            <a:avLst>
              <a:gd name="adj" fmla="val 50000"/>
            </a:avLst>
          </a:prstGeom>
          <a:solidFill>
            <a:srgbClr val="FFFFFF"/>
          </a:solidFill>
          <a:ln/>
        </p:spPr>
      </p:sp>
      <p:sp>
        <p:nvSpPr>
          <p:cNvPr id="18" name="Text 14"/>
          <p:cNvSpPr/>
          <p:nvPr/>
        </p:nvSpPr>
        <p:spPr>
          <a:xfrm rot="10800000">
            <a:off x="7438780" y="3410477"/>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5"/>
          <p:cNvSpPr/>
          <p:nvPr/>
        </p:nvSpPr>
        <p:spPr>
          <a:xfrm>
            <a:off x="7438781" y="3244949"/>
            <a:ext cx="360039" cy="63731"/>
          </a:xfrm>
          <a:prstGeom prst="rect">
            <a:avLst/>
          </a:prstGeom>
          <a:solidFill>
            <a:srgbClr val="9DB4E1"/>
          </a:solidFill>
          <a:ln/>
        </p:spPr>
      </p:sp>
      <p:sp>
        <p:nvSpPr>
          <p:cNvPr id="20" name="Text 16"/>
          <p:cNvSpPr/>
          <p:nvPr/>
        </p:nvSpPr>
        <p:spPr>
          <a:xfrm>
            <a:off x="7438781" y="3244949"/>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7"/>
          <p:cNvSpPr/>
          <p:nvPr/>
        </p:nvSpPr>
        <p:spPr>
          <a:xfrm rot="10800000">
            <a:off x="10375747" y="4276740"/>
            <a:ext cx="360039" cy="296210"/>
          </a:xfrm>
          <a:prstGeom prst="triangle">
            <a:avLst>
              <a:gd name="adj" fmla="val 50000"/>
            </a:avLst>
          </a:prstGeom>
          <a:solidFill>
            <a:srgbClr val="FFFFFF"/>
          </a:solidFill>
          <a:ln/>
        </p:spPr>
      </p:sp>
      <p:sp>
        <p:nvSpPr>
          <p:cNvPr id="22" name="Text 18"/>
          <p:cNvSpPr/>
          <p:nvPr/>
        </p:nvSpPr>
        <p:spPr>
          <a:xfrm rot="10800000">
            <a:off x="10375747" y="4276740"/>
            <a:ext cx="360039" cy="29621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19"/>
          <p:cNvSpPr/>
          <p:nvPr/>
        </p:nvSpPr>
        <p:spPr>
          <a:xfrm>
            <a:off x="10375748" y="4111212"/>
            <a:ext cx="360039" cy="63731"/>
          </a:xfrm>
          <a:prstGeom prst="rect">
            <a:avLst/>
          </a:prstGeom>
          <a:solidFill>
            <a:srgbClr val="9DB4E1"/>
          </a:solidFill>
          <a:ln/>
        </p:spPr>
      </p:sp>
      <p:sp>
        <p:nvSpPr>
          <p:cNvPr id="24" name="Text 20"/>
          <p:cNvSpPr/>
          <p:nvPr/>
        </p:nvSpPr>
        <p:spPr>
          <a:xfrm>
            <a:off x="10375748" y="4111212"/>
            <a:ext cx="360039" cy="63731"/>
          </a:xfrm>
          <a:prstGeom prst="rect">
            <a:avLst/>
          </a:prstGeom>
          <a:noFill/>
          <a:ln/>
        </p:spPr>
        <p:txBody>
          <a:bodyPr wrap="square" lIns="45720" tIns="91440" rIns="91440" bIns="45720" rtlCol="0" anchor="ctr"/>
          <a:lstStyle/>
          <a:p>
            <a:pPr>
              <a:lnSpc>
                <a:spcPct val="100000"/>
              </a:lnSpc>
            </a:pPr>
            <a:endParaRPr lang="en-US" sz="1600" dirty="0"/>
          </a:p>
        </p:txBody>
      </p:sp>
      <p:sp>
        <p:nvSpPr>
          <p:cNvPr id="25" name="Text 21"/>
          <p:cNvSpPr/>
          <p:nvPr/>
        </p:nvSpPr>
        <p:spPr>
          <a:xfrm>
            <a:off x="1384887" y="1208615"/>
            <a:ext cx="58512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9DB4E1"/>
                </a:solidFill>
                <a:latin typeface="Source Han Sans SC Medium" pitchFamily="34" charset="0"/>
                <a:ea typeface="Source Han Sans SC Medium" pitchFamily="34" charset="-122"/>
                <a:cs typeface="Source Han Sans SC Medium" pitchFamily="34" charset="-120"/>
              </a:rPr>
              <a:t>01</a:t>
            </a:r>
            <a:endParaRPr lang="en-US" sz="1600" dirty="0"/>
          </a:p>
        </p:txBody>
      </p:sp>
      <p:sp>
        <p:nvSpPr>
          <p:cNvPr id="26" name="Text 22"/>
          <p:cNvSpPr/>
          <p:nvPr/>
        </p:nvSpPr>
        <p:spPr>
          <a:xfrm>
            <a:off x="-312712" y="1515846"/>
            <a:ext cx="3980322" cy="301625"/>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Data Modeling</a:t>
            </a:r>
            <a:endParaRPr lang="en-US" sz="1600" dirty="0"/>
          </a:p>
        </p:txBody>
      </p:sp>
      <p:sp>
        <p:nvSpPr>
          <p:cNvPr id="27" name="Text 23"/>
          <p:cNvSpPr/>
          <p:nvPr/>
        </p:nvSpPr>
        <p:spPr>
          <a:xfrm>
            <a:off x="309297" y="1957021"/>
            <a:ext cx="2736304"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Model data using entities, attributes, and relationships. This foundational step ensures that the database structure is logical and well-organized.</a:t>
            </a:r>
            <a:endParaRPr lang="en-US" sz="1600" dirty="0"/>
          </a:p>
        </p:txBody>
      </p:sp>
      <p:sp>
        <p:nvSpPr>
          <p:cNvPr id="28" name="Text 24"/>
          <p:cNvSpPr/>
          <p:nvPr/>
        </p:nvSpPr>
        <p:spPr>
          <a:xfrm>
            <a:off x="4335659" y="119933"/>
            <a:ext cx="58512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9DB4E1"/>
                </a:solidFill>
                <a:latin typeface="Source Han Sans SC Medium" pitchFamily="34" charset="0"/>
                <a:ea typeface="Source Han Sans SC Medium" pitchFamily="34" charset="-122"/>
                <a:cs typeface="Source Han Sans SC Medium" pitchFamily="34" charset="-120"/>
              </a:rPr>
              <a:t>02</a:t>
            </a:r>
            <a:endParaRPr lang="en-US" sz="1600" dirty="0"/>
          </a:p>
        </p:txBody>
      </p:sp>
      <p:sp>
        <p:nvSpPr>
          <p:cNvPr id="29" name="Text 25"/>
          <p:cNvSpPr/>
          <p:nvPr/>
        </p:nvSpPr>
        <p:spPr>
          <a:xfrm>
            <a:off x="2638060" y="427164"/>
            <a:ext cx="3980322" cy="301625"/>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Normalization</a:t>
            </a:r>
            <a:endParaRPr lang="en-US" sz="1600" dirty="0"/>
          </a:p>
        </p:txBody>
      </p:sp>
      <p:sp>
        <p:nvSpPr>
          <p:cNvPr id="30" name="Text 26"/>
          <p:cNvSpPr/>
          <p:nvPr/>
        </p:nvSpPr>
        <p:spPr>
          <a:xfrm>
            <a:off x="3260069" y="796584"/>
            <a:ext cx="2736304"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Normalize data to 1NF, 2NF, and 3NF to eliminate redundancy and ensure data consistency. This process helps in maintaining a robust and efficient database.</a:t>
            </a:r>
            <a:endParaRPr lang="en-US" sz="1600" dirty="0"/>
          </a:p>
        </p:txBody>
      </p:sp>
      <p:sp>
        <p:nvSpPr>
          <p:cNvPr id="31" name="Text 27"/>
          <p:cNvSpPr/>
          <p:nvPr/>
        </p:nvSpPr>
        <p:spPr>
          <a:xfrm>
            <a:off x="7326238" y="117897"/>
            <a:ext cx="58512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9DB4E1"/>
                </a:solidFill>
                <a:latin typeface="Source Han Sans SC Medium" pitchFamily="34" charset="0"/>
                <a:ea typeface="Source Han Sans SC Medium" pitchFamily="34" charset="-122"/>
                <a:cs typeface="Source Han Sans SC Medium" pitchFamily="34" charset="-120"/>
              </a:rPr>
              <a:t>03</a:t>
            </a:r>
            <a:endParaRPr lang="en-US" sz="1600" dirty="0"/>
          </a:p>
        </p:txBody>
      </p:sp>
      <p:sp>
        <p:nvSpPr>
          <p:cNvPr id="32" name="Text 28"/>
          <p:cNvSpPr/>
          <p:nvPr/>
        </p:nvSpPr>
        <p:spPr>
          <a:xfrm>
            <a:off x="5628639" y="425128"/>
            <a:ext cx="3980322" cy="301625"/>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Schema Conversion</a:t>
            </a:r>
            <a:endParaRPr lang="en-US" sz="1600" dirty="0"/>
          </a:p>
        </p:txBody>
      </p:sp>
      <p:sp>
        <p:nvSpPr>
          <p:cNvPr id="33" name="Text 29"/>
          <p:cNvSpPr/>
          <p:nvPr/>
        </p:nvSpPr>
        <p:spPr>
          <a:xfrm>
            <a:off x="6250648" y="794548"/>
            <a:ext cx="2736304" cy="2048867"/>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Translate ER diagrams into relational tables using SQL. Ensure that relationships and constraints are accurately implemented to maintain data integrity.</a:t>
            </a:r>
            <a:endParaRPr lang="en-US" sz="1600" dirty="0"/>
          </a:p>
        </p:txBody>
      </p:sp>
      <p:sp>
        <p:nvSpPr>
          <p:cNvPr id="34" name="Text 30"/>
          <p:cNvSpPr/>
          <p:nvPr/>
        </p:nvSpPr>
        <p:spPr>
          <a:xfrm>
            <a:off x="10263205" y="912405"/>
            <a:ext cx="585125" cy="340717"/>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9DB4E1"/>
                </a:solidFill>
                <a:latin typeface="Source Han Sans SC Medium" pitchFamily="34" charset="0"/>
                <a:ea typeface="Source Han Sans SC Medium" pitchFamily="34" charset="-122"/>
                <a:cs typeface="Source Han Sans SC Medium" pitchFamily="34" charset="-120"/>
              </a:rPr>
              <a:t>04</a:t>
            </a:r>
            <a:endParaRPr lang="en-US" sz="1600" dirty="0"/>
          </a:p>
        </p:txBody>
      </p:sp>
      <p:sp>
        <p:nvSpPr>
          <p:cNvPr id="35" name="Text 31"/>
          <p:cNvSpPr/>
          <p:nvPr/>
        </p:nvSpPr>
        <p:spPr>
          <a:xfrm>
            <a:off x="8565606" y="1219636"/>
            <a:ext cx="3980322" cy="301625"/>
          </a:xfrm>
          <a:prstGeom prst="rect">
            <a:avLst/>
          </a:prstGeom>
          <a:noFill/>
          <a:ln/>
        </p:spPr>
        <p:txBody>
          <a:bodyPr wrap="square" lIns="91440" tIns="45720" rIns="91440" bIns="45720" rtlCol="0" anchor="t">
            <a:spAutoFit/>
          </a:bodyPr>
          <a:lstStyle/>
          <a:p>
            <a:pPr algn="ctr">
              <a:lnSpc>
                <a:spcPct val="100000"/>
              </a:lnSpc>
            </a:pPr>
            <a:r>
              <a:rPr lang="en-US" sz="1800" dirty="0">
                <a:solidFill>
                  <a:srgbClr val="9DB4E1"/>
                </a:solidFill>
                <a:latin typeface="Source Han Sans SC" pitchFamily="34" charset="0"/>
                <a:ea typeface="Source Han Sans SC" pitchFamily="34" charset="-122"/>
                <a:cs typeface="Source Han Sans SC" pitchFamily="34" charset="-120"/>
              </a:rPr>
              <a:t>Best Practices</a:t>
            </a:r>
            <a:endParaRPr lang="en-US" sz="1600" dirty="0"/>
          </a:p>
        </p:txBody>
      </p:sp>
      <p:sp>
        <p:nvSpPr>
          <p:cNvPr id="36" name="Text 32"/>
          <p:cNvSpPr/>
          <p:nvPr/>
        </p:nvSpPr>
        <p:spPr>
          <a:xfrm>
            <a:off x="9187615" y="1660811"/>
            <a:ext cx="2736304" cy="2345134"/>
          </a:xfrm>
          <a:prstGeom prst="rect">
            <a:avLst/>
          </a:prstGeom>
          <a:noFill/>
          <a:ln/>
        </p:spPr>
        <p:txBody>
          <a:bodyPr wrap="square" lIns="91440" tIns="45720" rIns="91440" bIns="45720" rtlCol="0" anchor="t">
            <a:spAutoFit/>
          </a:bodyPr>
          <a:lstStyle/>
          <a:p>
            <a:pPr>
              <a:lnSpc>
                <a:spcPct val="100000"/>
              </a:lnSpc>
            </a:pPr>
            <a:r>
              <a:rPr lang="en-US" sz="1600" dirty="0">
                <a:solidFill>
                  <a:srgbClr val="FFFFFF"/>
                </a:solidFill>
                <a:latin typeface="Source Han Sans SC Light" pitchFamily="34" charset="0"/>
                <a:ea typeface="Source Han Sans SC Light" pitchFamily="34" charset="-122"/>
                <a:cs typeface="Source Han Sans SC Light" pitchFamily="34" charset="-120"/>
              </a:rPr>
              <a:t>Enforce integrity constraints and use indexing to optimize performance. These practices ensure that the database is reliable, efficient, and easy to maintain.</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2455" y="1383665"/>
            <a:ext cx="7461250" cy="673100"/>
          </a:xfrm>
          <a:prstGeom prst="rect">
            <a:avLst/>
          </a:prstGeom>
          <a:noFill/>
          <a:ln/>
        </p:spPr>
        <p:txBody>
          <a:bodyPr wrap="square" lIns="91440" tIns="45720" rIns="91440" bIns="45720" rtlCol="0" anchor="t">
            <a:spAutoFit/>
          </a:bodyPr>
          <a:lstStyle/>
          <a:p>
            <a:pPr>
              <a:lnSpc>
                <a:spcPct val="100000"/>
              </a:lnSpc>
            </a:pPr>
            <a:r>
              <a:rPr lang="en-US" sz="4000" dirty="0">
                <a:solidFill>
                  <a:srgbClr val="000000"/>
                </a:solidFill>
                <a:latin typeface="Source Han Sans SC" pitchFamily="34" charset="0"/>
                <a:ea typeface="Source Han Sans SC" pitchFamily="34" charset="-122"/>
                <a:cs typeface="Source Han Sans SC" pitchFamily="34" charset="-120"/>
              </a:rPr>
              <a:t>Preview of Day 2 Topics</a:t>
            </a:r>
            <a:endParaRPr lang="en-US" sz="1600" dirty="0"/>
          </a:p>
        </p:txBody>
      </p:sp>
      <p:pic>
        <p:nvPicPr>
          <p:cNvPr id="3" name="Image 0" descr="https://kimi-img.moonshot.cn/pub/slides/slides_tmpl/image/25-08-27-20:09:06-d2nfaoh8bjvh7rlj0i70.jpg"/>
          <p:cNvPicPr>
            <a:picLocks noChangeAspect="1"/>
          </p:cNvPicPr>
          <p:nvPr/>
        </p:nvPicPr>
        <p:blipFill>
          <a:blip r:embed="rId3"/>
          <a:stretch>
            <a:fillRect/>
          </a:stretch>
        </p:blipFill>
        <p:spPr>
          <a:xfrm>
            <a:off x="8170222" y="1230728"/>
            <a:ext cx="3429629" cy="4642315"/>
          </a:xfrm>
          <a:prstGeom prst="rect">
            <a:avLst/>
          </a:prstGeom>
        </p:spPr>
      </p:pic>
      <p:sp>
        <p:nvSpPr>
          <p:cNvPr id="4" name="Shape 1"/>
          <p:cNvSpPr/>
          <p:nvPr/>
        </p:nvSpPr>
        <p:spPr>
          <a:xfrm>
            <a:off x="695325" y="3455035"/>
            <a:ext cx="1270635" cy="2350135"/>
          </a:xfrm>
          <a:prstGeom prst="rect">
            <a:avLst/>
          </a:prstGeom>
          <a:solidFill>
            <a:srgbClr val="9DB4E1"/>
          </a:solidFill>
          <a:ln/>
        </p:spPr>
      </p:sp>
      <p:sp>
        <p:nvSpPr>
          <p:cNvPr id="5" name="Text 2"/>
          <p:cNvSpPr/>
          <p:nvPr/>
        </p:nvSpPr>
        <p:spPr>
          <a:xfrm>
            <a:off x="695325" y="3455035"/>
            <a:ext cx="1270635" cy="23501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3"/>
          <p:cNvSpPr/>
          <p:nvPr/>
        </p:nvSpPr>
        <p:spPr>
          <a:xfrm>
            <a:off x="2135505" y="3455035"/>
            <a:ext cx="6069965" cy="471884"/>
          </a:xfrm>
          <a:prstGeom prst="rect">
            <a:avLst/>
          </a:prstGeom>
          <a:noFill/>
          <a:ln/>
        </p:spPr>
        <p:txBody>
          <a:bodyPr wrap="square" lIns="91440" tIns="45720" rIns="91440" bIns="45720" rtlCol="0" anchor="t">
            <a:spAutoFit/>
          </a:bodyPr>
          <a:lstStyle/>
          <a:p>
            <a:pPr>
              <a:lnSpc>
                <a:spcPct val="100000"/>
              </a:lnSpc>
            </a:pPr>
            <a:r>
              <a:rPr lang="en-US" sz="2800" dirty="0">
                <a:solidFill>
                  <a:srgbClr val="9DB4E1"/>
                </a:solidFill>
                <a:latin typeface="Source Han Sans SC" pitchFamily="34" charset="0"/>
                <a:ea typeface="Source Han Sans SC" pitchFamily="34" charset="-122"/>
                <a:cs typeface="Source Han Sans SC" pitchFamily="34" charset="-120"/>
              </a:rPr>
              <a:t>Upcoming Topics</a:t>
            </a:r>
            <a:endParaRPr lang="en-US" sz="1600" dirty="0"/>
          </a:p>
        </p:txBody>
      </p:sp>
      <p:sp>
        <p:nvSpPr>
          <p:cNvPr id="7" name="Text 4"/>
          <p:cNvSpPr/>
          <p:nvPr/>
        </p:nvSpPr>
        <p:spPr>
          <a:xfrm>
            <a:off x="2135505" y="4076700"/>
            <a:ext cx="5220335" cy="1388745"/>
          </a:xfrm>
          <a:prstGeom prst="rect">
            <a:avLst/>
          </a:prstGeom>
          <a:noFill/>
          <a:ln/>
        </p:spPr>
        <p:txBody>
          <a:bodyPr wrap="square" lIns="91440" tIns="45720" rIns="91440" bIns="45720" rtlCol="0" anchor="t"/>
          <a:lstStyle/>
          <a:p>
            <a:pPr>
              <a:lnSpc>
                <a:spcPct val="100000"/>
              </a:lnSpc>
            </a:pPr>
            <a:r>
              <a:rPr lang="en-US" sz="1800" dirty="0">
                <a:solidFill>
                  <a:srgbClr val="000000"/>
                </a:solidFill>
                <a:latin typeface="Source Han Sans SC Normal" pitchFamily="34" charset="0"/>
                <a:ea typeface="Source Han Sans SC Normal" pitchFamily="34" charset="-122"/>
                <a:cs typeface="Source Han Sans SC Normal" pitchFamily="34" charset="-120"/>
              </a:rPr>
              <a:t>On Day 2, we will cover advanced normalization techniques (4NF and 5NF), NoSQL design principles, SQL query optimization, and a hands-on project to apply all learned skills in a real-world scenario.</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6941127"/>
          </a:xfrm>
          <a:prstGeom prst="rect">
            <a:avLst/>
          </a:prstGeom>
          <a:solidFill>
            <a:srgbClr val="161616"/>
          </a:solidFill>
          <a:ln/>
        </p:spPr>
      </p:sp>
      <p:sp>
        <p:nvSpPr>
          <p:cNvPr id="3" name="Text 1"/>
          <p:cNvSpPr/>
          <p:nvPr/>
        </p:nvSpPr>
        <p:spPr>
          <a:xfrm>
            <a:off x="0" y="0"/>
            <a:ext cx="12192000" cy="6941127"/>
          </a:xfrm>
          <a:prstGeom prst="rect">
            <a:avLst/>
          </a:prstGeom>
          <a:noFill/>
          <a:ln/>
        </p:spPr>
        <p:txBody>
          <a:bodyPr wrap="square" lIns="45720" tIns="91440" rIns="91440" bIns="45720" rtlCol="0" anchor="ctr"/>
          <a:lstStyle/>
          <a:p>
            <a:pPr>
              <a:lnSpc>
                <a:spcPct val="100000"/>
              </a:lnSpc>
            </a:pPr>
            <a:endParaRPr lang="en-US" sz="1600" dirty="0"/>
          </a:p>
        </p:txBody>
      </p:sp>
      <p:pic>
        <p:nvPicPr>
          <p:cNvPr id="4" name="Image 0" descr="https://kimi-img.moonshot.cn/pub/slides/slides_tmpl/image/25-08-27-20:09:12-d2nfaq18bjvh7rlj0is0.jpeg"/>
          <p:cNvPicPr>
            <a:picLocks noChangeAspect="1"/>
          </p:cNvPicPr>
          <p:nvPr/>
        </p:nvPicPr>
        <p:blipFill>
          <a:blip r:embed="rId3"/>
          <a:stretch>
            <a:fillRect/>
          </a:stretch>
        </p:blipFill>
        <p:spPr>
          <a:xfrm>
            <a:off x="4388617" y="1561401"/>
            <a:ext cx="4553512" cy="3552547"/>
          </a:xfrm>
          <a:prstGeom prst="rect">
            <a:avLst/>
          </a:prstGeom>
        </p:spPr>
      </p:pic>
      <p:pic>
        <p:nvPicPr>
          <p:cNvPr id="5" name="Image 1" descr="https://kimi-img.moonshot.cn/pub/slides/slides_tmpl/image/25-08-27-20:09:12-d2nfaq18bjvh7rlj0isg.jpeg"/>
          <p:cNvPicPr>
            <a:picLocks noChangeAspect="1"/>
          </p:cNvPicPr>
          <p:nvPr/>
        </p:nvPicPr>
        <p:blipFill>
          <a:blip r:embed="rId4"/>
          <a:srcRect/>
          <a:stretch/>
        </p:blipFill>
        <p:spPr>
          <a:xfrm>
            <a:off x="9103121" y="1561401"/>
            <a:ext cx="2434092" cy="2408626"/>
          </a:xfrm>
          <a:prstGeom prst="rect">
            <a:avLst/>
          </a:prstGeom>
        </p:spPr>
      </p:pic>
      <p:sp>
        <p:nvSpPr>
          <p:cNvPr id="6" name="Shape 2"/>
          <p:cNvSpPr/>
          <p:nvPr/>
        </p:nvSpPr>
        <p:spPr>
          <a:xfrm>
            <a:off x="1884213" y="3119957"/>
            <a:ext cx="363255" cy="363255"/>
          </a:xfrm>
          <a:prstGeom prst="ellipse">
            <a:avLst/>
          </a:prstGeom>
          <a:solidFill>
            <a:srgbClr val="000000">
              <a:alpha val="0"/>
            </a:srgbClr>
          </a:solidFill>
          <a:ln w="19050">
            <a:solidFill>
              <a:srgbClr val="FFFFFF"/>
            </a:solidFill>
            <a:prstDash val="solid"/>
          </a:ln>
        </p:spPr>
      </p:sp>
      <p:sp>
        <p:nvSpPr>
          <p:cNvPr id="7" name="Text 3"/>
          <p:cNvSpPr/>
          <p:nvPr/>
        </p:nvSpPr>
        <p:spPr>
          <a:xfrm>
            <a:off x="1884213" y="3119957"/>
            <a:ext cx="363255" cy="36325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4"/>
          <p:cNvSpPr/>
          <p:nvPr/>
        </p:nvSpPr>
        <p:spPr>
          <a:xfrm>
            <a:off x="2147610" y="3138745"/>
            <a:ext cx="325677" cy="325677"/>
          </a:xfrm>
          <a:prstGeom prst="ellipse">
            <a:avLst/>
          </a:prstGeom>
          <a:solidFill>
            <a:srgbClr val="C2F4E0"/>
          </a:solidFill>
          <a:ln/>
        </p:spPr>
      </p:sp>
      <p:sp>
        <p:nvSpPr>
          <p:cNvPr id="9" name="Text 5"/>
          <p:cNvSpPr/>
          <p:nvPr/>
        </p:nvSpPr>
        <p:spPr>
          <a:xfrm>
            <a:off x="2147610" y="3138745"/>
            <a:ext cx="325677" cy="325677"/>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6"/>
          <p:cNvSpPr/>
          <p:nvPr/>
        </p:nvSpPr>
        <p:spPr>
          <a:xfrm>
            <a:off x="2209989" y="3287890"/>
            <a:ext cx="225819" cy="1819"/>
          </a:xfrm>
          <a:prstGeom prst="straightConnector1">
            <a:avLst/>
          </a:prstGeom>
          <a:noFill/>
          <a:ln w="12700">
            <a:solidFill>
              <a:srgbClr val="262626"/>
            </a:solidFill>
            <a:prstDash val="solid"/>
            <a:headEnd type="none"/>
            <a:tailEnd type="triangle"/>
          </a:ln>
        </p:spPr>
      </p:sp>
      <p:pic>
        <p:nvPicPr>
          <p:cNvPr id="11" name="Image 2" descr="https://kimi-img.moonshot.cn/pub/slides/slides_tmpl/image/25-08-27-20:09:13-d2nfaq98bjvh7rlj0it0.png"/>
          <p:cNvPicPr>
            <a:picLocks noChangeAspect="1"/>
          </p:cNvPicPr>
          <p:nvPr/>
        </p:nvPicPr>
        <p:blipFill>
          <a:blip r:embed="rId5"/>
          <a:srcRect r="29701" b="29746"/>
          <a:stretch/>
        </p:blipFill>
        <p:spPr>
          <a:xfrm>
            <a:off x="654685" y="1670685"/>
            <a:ext cx="8178063" cy="3702743"/>
          </a:xfrm>
          <a:prstGeom prst="rect">
            <a:avLst/>
          </a:prstGeom>
        </p:spPr>
      </p:pic>
      <p:sp>
        <p:nvSpPr>
          <p:cNvPr id="12" name="Text 7"/>
          <p:cNvSpPr/>
          <p:nvPr/>
        </p:nvSpPr>
        <p:spPr>
          <a:xfrm>
            <a:off x="524237" y="5373975"/>
            <a:ext cx="2254685" cy="400110"/>
          </a:xfrm>
          <a:prstGeom prst="rect">
            <a:avLst/>
          </a:prstGeom>
          <a:noFill/>
          <a:ln/>
        </p:spPr>
        <p:txBody>
          <a:bodyPr wrap="square" lIns="91440" tIns="45720" rIns="91440" bIns="45720" rtlCol="0" anchor="t">
            <a:spAutoFit/>
          </a:bodyPr>
          <a:lstStyle/>
          <a:p>
            <a:pPr>
              <a:lnSpc>
                <a:spcPct val="100000"/>
              </a:lnSpc>
            </a:pPr>
            <a:r>
              <a:rPr lang="en-US" sz="2000">
                <a:solidFill>
                  <a:srgbClr val="FFFFFF"/>
                </a:solidFill>
                <a:latin typeface="Source Han Sans SC" pitchFamily="34" charset="0"/>
                <a:ea typeface="Source Han Sans SC" pitchFamily="34" charset="-122"/>
                <a:cs typeface="Source Han Sans SC" pitchFamily="34" charset="-120"/>
              </a:rPr>
              <a:t>Sean Wong</a:t>
            </a:r>
            <a:endParaRPr lang="en-US" sz="1600" dirty="0"/>
          </a:p>
        </p:txBody>
      </p:sp>
      <p:sp>
        <p:nvSpPr>
          <p:cNvPr id="13" name="Text 8"/>
          <p:cNvSpPr/>
          <p:nvPr/>
        </p:nvSpPr>
        <p:spPr>
          <a:xfrm>
            <a:off x="548274" y="5750335"/>
            <a:ext cx="4323764" cy="340717"/>
          </a:xfrm>
          <a:prstGeom prst="rect">
            <a:avLst/>
          </a:prstGeom>
          <a:noFill/>
          <a:ln/>
        </p:spPr>
        <p:txBody>
          <a:bodyPr wrap="square" lIns="91440" tIns="45720" rIns="91440" bIns="45720" rtlCol="0" anchor="t">
            <a:spAutoFit/>
          </a:bodyPr>
          <a:lstStyle/>
          <a:p>
            <a:pPr>
              <a:lnSpc>
                <a:spcPct val="100000"/>
              </a:lnSpc>
            </a:pPr>
            <a:r>
              <a:rPr lang="en-US" sz="2000" dirty="0">
                <a:solidFill>
                  <a:srgbClr val="FFFFFF"/>
                </a:solidFill>
                <a:latin typeface="Source Han Sans SC" pitchFamily="34" charset="0"/>
                <a:ea typeface="Source Han Sans SC" pitchFamily="34" charset="-122"/>
                <a:cs typeface="Source Han Sans SC" pitchFamily="34" charset="-120"/>
              </a:rPr>
              <a:t>2025/08/04</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1536</Words>
  <Application>Microsoft Office PowerPoint</Application>
  <PresentationFormat>Widescreen</PresentationFormat>
  <Paragraphs>143</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Source Han Sans SC</vt:lpstr>
      <vt:lpstr>Source Han Sans SC Bold</vt:lpstr>
      <vt:lpstr>Source Han Sans SC Light</vt:lpstr>
      <vt:lpstr>Source Han Sans SC Medium</vt:lpstr>
      <vt:lpstr>Source Han Sans SC Normal</vt:lpstr>
      <vt:lpstr>Arial</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Crash Course</dc:title>
  <dc:subject>Database Design Crash Course</dc:subject>
  <dc:creator>Kimi</dc:creator>
  <cp:lastModifiedBy>Sean</cp:lastModifiedBy>
  <cp:revision>2</cp:revision>
  <dcterms:created xsi:type="dcterms:W3CDTF">2025-12-05T07:04:17Z</dcterms:created>
  <dcterms:modified xsi:type="dcterms:W3CDTF">2025-12-05T07:12:29Z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{"Label":"Database Design Crash Course","ContentProducer":"001191110108MACG2KBH8F10000","ProduceID":"d4p86n5kfv3gqf97euug","ReservedCode1":"","ContentPropagator":"001191110108MACG2KBH8F20000","PropagateID":"d4p86n5kfv3gqf97euug","ReservedCode2":""}</vt:lpwstr>
  </property>
</Properties>
</file>